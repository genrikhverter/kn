
<file path=[Content_Types].xml><?xml version="1.0" encoding="utf-8"?>
<Types xmlns="http://schemas.openxmlformats.org/package/2006/content-types">
  <Default Extension="png" ContentType="image/png"/>
  <Default Extension="jfif" ContentType="image/jpe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48" r:id="rId1"/>
  </p:sldMasterIdLst>
  <p:notesMasterIdLst>
    <p:notesMasterId r:id="rId12"/>
  </p:notesMasterIdLst>
  <p:sldIdLst>
    <p:sldId id="256" r:id="rId2"/>
    <p:sldId id="389" r:id="rId3"/>
    <p:sldId id="392" r:id="rId4"/>
    <p:sldId id="393" r:id="rId5"/>
    <p:sldId id="445" r:id="rId6"/>
    <p:sldId id="399" r:id="rId7"/>
    <p:sldId id="394" r:id="rId8"/>
    <p:sldId id="346" r:id="rId9"/>
    <p:sldId id="390" r:id="rId10"/>
    <p:sldId id="344" r:id="rId11"/>
  </p:sldIdLst>
  <p:sldSz cx="12192000" cy="6858000"/>
  <p:notesSz cx="7315200" cy="96012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6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66FF"/>
    <a:srgbClr val="8663CB"/>
    <a:srgbClr val="44378F"/>
    <a:srgbClr val="5B9BD5"/>
    <a:srgbClr val="800000"/>
    <a:srgbClr val="D9D9D9"/>
    <a:srgbClr val="FECDC9"/>
    <a:srgbClr val="97B9E0"/>
    <a:srgbClr val="F1F1F2"/>
    <a:srgbClr val="E3D3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Средний стиль 2 — акцент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AF606853-7671-496A-8E4F-DF71F8EC918B}" styleName="Темный стиль 1 — акцент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FD4443E-F989-4FC4-A0C8-D5A2AF1F390B}" styleName="Темный стиль 1 — акцент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Темный стиль 1 — акцент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Темный стиль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46F890A9-2807-4EBB-B81D-B2AA78EC7F39}" styleName="Темный стиль 2 — акцент 5/акцент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EBBBCC-DAD2-459C-BE2E-F6DE35CF9A28}" styleName="Темный стиль 2 — акцент 3/акцент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660B408-B3CF-4A94-85FC-2B1E0A45F4A2}" styleName="Темный стиль 2 — акцент 1/акцент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202B0CA-FC54-4496-8BCA-5EF66A818D29}" styleName="Темный стиль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125E5076-3810-47DD-B79F-674D7AD40C01}" styleName="Темный стиль 1 — акцент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6D9F66E-5EB9-4882-86FB-DCBF35E3C3E4}" styleName="Средний стиль 4 — акцент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22838BEF-8BB2-4498-84A7-C5851F593DF1}" styleName="Средний стиль 4 — акцент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0505E3EF-67EA-436B-97B2-0124C06EBD24}" styleName="Средний стиль 4 — акцент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9CF1AB2-1976-4502-BF36-3FF5EA218861}" styleName="Средний стиль 4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A488322-F2BA-4B5B-9748-0D474271808F}" styleName="Средний стиль 3 — акцент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4C1A8A3-306A-4EB7-A6B1-4F7E0EB9C5D6}" styleName="Средний стиль 3 — акцент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EB9631B5-78F2-41C9-869B-9F39066F8104}" styleName="Средний стиль 3 — акцент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Средний стиль 3 — акцент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Средний стиль 3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B1032C-EA38-4F05-BA0D-38AFFFC7BED3}" styleName="Светлый стиль 3 — акцент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BDBED569-4797-4DF1-A0F4-6AAB3CD982D8}" styleName="Светлый стиль 3 — акцент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D083AE6-46FA-4A59-8FB0-9F97EB10719F}" styleName="Светлый стиль 3 — акцент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8799B23B-EC83-4686-B30A-512413B5E67A}" styleName="Светлый стиль 3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BC89EF96-8CEA-46FF-86C4-4CE0E7609802}" styleName="Светлый стиль 3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12C8C85-51F0-491E-9774-3900AFEF0FD7}" styleName="Светлый стиль 2 — акцент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9012ECD-51FC-41F1-AA8D-1B2483CD663E}" styleName="Светлый стиль 2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8FB837D-C827-4EFA-A057-4D05807E0F7C}" styleName="Стиль из темы 1 - акцент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Стиль из темы 1 - акцент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9C7853C-536D-4A76-A0AE-DD22124D55A5}" styleName="Стиль из темы 1 - акцент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Стиль из темы 1 - акцент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E9639D4-E3E2-4D34-9284-5A2195B3D0D7}" styleName="Светлый стиль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84E427A-3D55-4303-BF80-6455036E1DE7}" styleName="Стиль из темы 1 - акцент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75DCB02-9BB8-47FD-8907-85C794F793BA}" styleName="Стиль из темы 1 - акцент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38B1855-1B75-4FBE-930C-398BA8C253C6}" styleName="Стиль из темы 2 - акцент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Светлый стиль 1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EC20E35-A176-4012-BC5E-935CFFF8708E}" styleName="Средний стиль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5BE263C-DBD7-4A20-BB59-AAB30ACAA65A}" styleName="Средний стиль 3 — акцент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Светлый стиль 2 — акцент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536" autoAdjust="0"/>
    <p:restoredTop sz="95510" autoAdjust="0"/>
  </p:normalViewPr>
  <p:slideViewPr>
    <p:cSldViewPr snapToGrid="0">
      <p:cViewPr varScale="1">
        <p:scale>
          <a:sx n="95" d="100"/>
          <a:sy n="95" d="100"/>
        </p:scale>
        <p:origin x="78" y="438"/>
      </p:cViewPr>
      <p:guideLst>
        <p:guide orient="horz" pos="2183"/>
        <p:guide pos="3863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19" d="100"/>
          <a:sy n="119" d="100"/>
        </p:scale>
        <p:origin x="4560" y="12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75691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06174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037486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E92D2E-8259-FD3D-DBD7-740DF8BE8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A0022741-3197-4B00-E2E8-D3499E0CFB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F7D2C1B8-8665-C5B2-B236-45F6F0DA73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184946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620048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711041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AD777-76D6-A243-9F4A-71F18A3CD7DE}" type="datetime1">
              <a:rPr lang="ru-RU" smtClean="0"/>
              <a:t>29.09.2026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6827F-A79C-48A5-9FEC-A2BFF2596D1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30280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50379-4CA7-694C-9FC9-F499D9846C7E}" type="datetime1">
              <a:rPr lang="ru-RU" smtClean="0"/>
              <a:t>29.09.2026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6827F-A79C-48A5-9FEC-A2BFF2596D1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51244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3C6D4-1D02-DD46-A96C-13719314D517}" type="datetime1">
              <a:rPr lang="ru-RU" smtClean="0"/>
              <a:t>29.09.2026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6827F-A79C-48A5-9FEC-A2BFF2596D1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41178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918BE-ED06-8E41-8746-AF2AAFFE3686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6827F-A79C-48A5-9FEC-A2BFF2596D1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22595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75442-C0CE-CE44-A1AF-DB0F7CF94F65}" type="datetime1">
              <a:rPr lang="ru-RU" smtClean="0"/>
              <a:t>29.09.2026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6827F-A79C-48A5-9FEC-A2BFF2596D1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98695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BDBB9-8572-E649-B3C2-B0C0AC5D73AE}" type="datetime1">
              <a:rPr lang="ru-RU" smtClean="0"/>
              <a:t>29.09.2026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6827F-A79C-48A5-9FEC-A2BFF2596D1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63503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C1DA0-8DE9-2044-9213-C043AA3D0775}" type="datetime1">
              <a:rPr lang="ru-RU" smtClean="0"/>
              <a:t>29.09.2026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6827F-A79C-48A5-9FEC-A2BFF2596D1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50830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FB5BD-2106-9845-B2BC-FA78B6E57C72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6827F-A79C-48A5-9FEC-A2BFF2596D1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62361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64229-7C85-994B-8BFE-8DBB37815E24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6827F-A79C-48A5-9FEC-A2BFF2596D1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2815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EABAA-720B-5D4D-97B6-3585251B39D7}" type="datetime1">
              <a:rPr lang="ru-RU" smtClean="0"/>
              <a:t>29.09.2026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6827F-A79C-48A5-9FEC-A2BFF2596D1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86128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F5DD1-2431-CB46-A5E1-A48E5DC206E3}" type="datetime1">
              <a:rPr lang="ru-RU" smtClean="0"/>
              <a:t>29.09.2026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6827F-A79C-48A5-9FEC-A2BFF2596D1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3216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EE16D3-C610-8D45-A43E-034294872A06}" type="datetime1">
              <a:rPr lang="ru-RU" smtClean="0"/>
              <a:t>29.09.2026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46827F-A79C-48A5-9FEC-A2BFF2596D1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95121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jfif"/><Relationship Id="rId5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jfif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3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1" Type="http://schemas.openxmlformats.org/officeDocument/2006/relationships/image" Target="../media/image7.png"/><Relationship Id="rId5" Type="http://schemas.openxmlformats.org/officeDocument/2006/relationships/image" Target="../media/image14.png"/><Relationship Id="rId10" Type="http://schemas.openxmlformats.org/officeDocument/2006/relationships/image" Target="../media/image19.jpeg"/><Relationship Id="rId4" Type="http://schemas.openxmlformats.org/officeDocument/2006/relationships/image" Target="../media/image4.png"/><Relationship Id="rId9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jpeg"/><Relationship Id="rId3" Type="http://schemas.openxmlformats.org/officeDocument/2006/relationships/image" Target="../media/image3.png"/><Relationship Id="rId7" Type="http://schemas.openxmlformats.org/officeDocument/2006/relationships/image" Target="../media/image22.jpeg"/><Relationship Id="rId12" Type="http://schemas.openxmlformats.org/officeDocument/2006/relationships/image" Target="../media/image2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jpeg"/><Relationship Id="rId11" Type="http://schemas.openxmlformats.org/officeDocument/2006/relationships/image" Target="../media/image26.png"/><Relationship Id="rId5" Type="http://schemas.openxmlformats.org/officeDocument/2006/relationships/image" Target="../media/image20.jpeg"/><Relationship Id="rId10" Type="http://schemas.openxmlformats.org/officeDocument/2006/relationships/image" Target="../media/image25.png"/><Relationship Id="rId4" Type="http://schemas.openxmlformats.org/officeDocument/2006/relationships/image" Target="../media/image4.png"/><Relationship Id="rId9" Type="http://schemas.openxmlformats.org/officeDocument/2006/relationships/image" Target="../media/image24.jpe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8.png"/><Relationship Id="rId7" Type="http://schemas.openxmlformats.org/officeDocument/2006/relationships/image" Target="../media/image3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4.png"/><Relationship Id="rId4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88126" y="2117457"/>
            <a:ext cx="11370499" cy="236988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ru-RU" sz="4000" b="1" spc="30" dirty="0">
                <a:ln w="0">
                  <a:noFill/>
                </a:ln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Декомпозиция показателей </a:t>
            </a:r>
          </a:p>
          <a:p>
            <a:r>
              <a:rPr lang="ru-RU" sz="4000" b="1" spc="30" dirty="0">
                <a:ln w="0">
                  <a:noFill/>
                </a:ln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Национальных проектов</a:t>
            </a:r>
          </a:p>
          <a:p>
            <a:r>
              <a:rPr lang="ru-RU" sz="4000" b="1" spc="30" dirty="0">
                <a:ln w="0">
                  <a:noFill/>
                </a:ln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«Наука» и «Образование»</a:t>
            </a:r>
            <a:br>
              <a:rPr lang="ru-RU" sz="2800" b="1" spc="30" dirty="0">
                <a:ln w="0">
                  <a:noFill/>
                </a:ln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ru-RU" sz="2800" b="1" spc="30" dirty="0">
              <a:ln w="0">
                <a:noFill/>
              </a:ln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D184309-A7A8-4262-8BB7-B650C66BCBC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818"/>
          <a:stretch/>
        </p:blipFill>
        <p:spPr>
          <a:xfrm>
            <a:off x="762493" y="0"/>
            <a:ext cx="10979276" cy="684449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DAF7163-5F07-4487-9DEC-B25E6CB426F7}"/>
              </a:ext>
            </a:extLst>
          </p:cNvPr>
          <p:cNvSpPr txBox="1"/>
          <p:nvPr/>
        </p:nvSpPr>
        <p:spPr>
          <a:xfrm>
            <a:off x="606362" y="6039323"/>
            <a:ext cx="10979276" cy="341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21" dirty="0">
                <a:solidFill>
                  <a:srgbClr val="002060"/>
                </a:solidFill>
              </a:rPr>
              <a:t>Москва – 2026 г.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DAF7163-5F07-4487-9DEC-B25E6CB426F7}"/>
              </a:ext>
            </a:extLst>
          </p:cNvPr>
          <p:cNvSpPr txBox="1"/>
          <p:nvPr/>
        </p:nvSpPr>
        <p:spPr>
          <a:xfrm>
            <a:off x="2483644" y="3620143"/>
            <a:ext cx="7536974" cy="5911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21" dirty="0">
                <a:solidFill>
                  <a:srgbClr val="002060"/>
                </a:solidFill>
              </a:rPr>
              <a:t>Соглашение о предоставлении из федерального бюджета гранта в форме субсидии от «25» апреля 2024 г. № 075-15-2024-542  (внутренний номер №13.1902.24.23)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DAF7163-5F07-4487-9DEC-B25E6CB426F7}"/>
              </a:ext>
            </a:extLst>
          </p:cNvPr>
          <p:cNvSpPr txBox="1"/>
          <p:nvPr/>
        </p:nvSpPr>
        <p:spPr>
          <a:xfrm>
            <a:off x="4764344" y="2864685"/>
            <a:ext cx="2663312" cy="5911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21" dirty="0">
                <a:solidFill>
                  <a:srgbClr val="002060"/>
                </a:solidFill>
              </a:rPr>
              <a:t>Этап 3 (2026 год)</a:t>
            </a:r>
          </a:p>
          <a:p>
            <a:pPr algn="ctr"/>
            <a:r>
              <a:rPr lang="ru-RU" sz="1621" dirty="0">
                <a:solidFill>
                  <a:srgbClr val="002060"/>
                </a:solidFill>
              </a:rPr>
              <a:t>(на 01.10.2026)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53386A3-352C-4085-BAC7-6FAADCA3E756}"/>
              </a:ext>
            </a:extLst>
          </p:cNvPr>
          <p:cNvSpPr txBox="1"/>
          <p:nvPr/>
        </p:nvSpPr>
        <p:spPr>
          <a:xfrm>
            <a:off x="488126" y="2117457"/>
            <a:ext cx="1121574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987">
                <a:solidFill>
                  <a:srgbClr val="002060"/>
                </a:solidFill>
              </a:defRPr>
            </a:lvl1pPr>
          </a:lstStyle>
          <a:p>
            <a:r>
              <a:rPr lang="ru-RU" sz="1600" b="1" dirty="0"/>
              <a:t>«Обеспечение продовольственной безопасности страны на основе создания программно-аппаратных комплексов </a:t>
            </a:r>
          </a:p>
          <a:p>
            <a:r>
              <a:rPr lang="ru-RU" sz="1600" b="1" dirty="0"/>
              <a:t>и интеллектуальных платформенных цифровых решений в сфере развития агропромышленных технологий </a:t>
            </a:r>
          </a:p>
          <a:p>
            <a:r>
              <a:rPr lang="ru-RU" sz="1600" b="1" dirty="0"/>
              <a:t>полного жизненного цикла»</a:t>
            </a:r>
          </a:p>
          <a:p>
            <a:endParaRPr lang="ru-RU" sz="16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DAF7163-5F07-4487-9DEC-B25E6CB426F7}"/>
              </a:ext>
            </a:extLst>
          </p:cNvPr>
          <p:cNvSpPr txBox="1"/>
          <p:nvPr/>
        </p:nvSpPr>
        <p:spPr>
          <a:xfrm>
            <a:off x="762493" y="4881245"/>
            <a:ext cx="11253643" cy="341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21" dirty="0">
                <a:solidFill>
                  <a:srgbClr val="002060"/>
                </a:solidFill>
              </a:rPr>
              <a:t>Руководитель проекта                                                                                                                              д.т.н., проф. Терентьев А.В.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CAAA747-5923-BBB4-7097-52C4D308A527}"/>
              </a:ext>
            </a:extLst>
          </p:cNvPr>
          <p:cNvSpPr txBox="1"/>
          <p:nvPr/>
        </p:nvSpPr>
        <p:spPr>
          <a:xfrm>
            <a:off x="2483644" y="688899"/>
            <a:ext cx="556062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987">
                <a:solidFill>
                  <a:srgbClr val="002060"/>
                </a:solidFill>
              </a:defRPr>
            </a:lvl1pPr>
          </a:lstStyle>
          <a:p>
            <a:r>
              <a:rPr lang="ru-RU" sz="1400" b="1" dirty="0"/>
              <a:t>Федеральное государственное бюджетное образовательное учреждение высшего образования </a:t>
            </a:r>
          </a:p>
          <a:p>
            <a:r>
              <a:rPr lang="ru-RU" sz="1400" b="1" dirty="0"/>
              <a:t>«Государственный университет управления»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9F6BCC0-0F36-80C1-B8B2-6C54484866A2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88" t="24761" r="8043" b="24519"/>
          <a:stretch/>
        </p:blipFill>
        <p:spPr>
          <a:xfrm>
            <a:off x="488126" y="749631"/>
            <a:ext cx="2031418" cy="617201"/>
          </a:xfrm>
          <a:prstGeom prst="rect">
            <a:avLst/>
          </a:prstGeom>
          <a:effectLst>
            <a:softEdge rad="63500"/>
          </a:effectLst>
        </p:spPr>
      </p:pic>
    </p:spTree>
    <p:extLst>
      <p:ext uri="{BB962C8B-B14F-4D97-AF65-F5344CB8AC3E}">
        <p14:creationId xmlns:p14="http://schemas.microsoft.com/office/powerpoint/2010/main" val="4224643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Рисунок 4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9454" y="144046"/>
            <a:ext cx="2075742" cy="6713954"/>
          </a:xfrm>
          <a:prstGeom prst="rect">
            <a:avLst/>
          </a:prstGeom>
        </p:spPr>
      </p:pic>
      <p:sp>
        <p:nvSpPr>
          <p:cNvPr id="15" name="Прямоугольник 14"/>
          <p:cNvSpPr/>
          <p:nvPr/>
        </p:nvSpPr>
        <p:spPr>
          <a:xfrm>
            <a:off x="210570" y="197386"/>
            <a:ext cx="10952730" cy="36933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40" name="Рисунок 3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681"/>
            <a:ext cx="12192000" cy="981457"/>
          </a:xfrm>
          <a:prstGeom prst="rect">
            <a:avLst/>
          </a:prstGeom>
        </p:spPr>
      </p:pic>
      <p:sp>
        <p:nvSpPr>
          <p:cNvPr id="44" name="Прямоугольник 43"/>
          <p:cNvSpPr/>
          <p:nvPr/>
        </p:nvSpPr>
        <p:spPr>
          <a:xfrm>
            <a:off x="360223" y="323491"/>
            <a:ext cx="758924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>
                <a:latin typeface="Verdana" panose="020B0604030504040204" pitchFamily="34" charset="0"/>
                <a:ea typeface="Verdana" panose="020B0604030504040204" pitchFamily="34" charset="0"/>
              </a:rPr>
              <a:t>СОСТАВ ИСПОЛНИТЕЛЕЙ ПРОЕКТА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2982DFC-F32E-2FD0-11F2-019FB6F8406D}"/>
              </a:ext>
            </a:extLst>
          </p:cNvPr>
          <p:cNvSpPr txBox="1"/>
          <p:nvPr/>
        </p:nvSpPr>
        <p:spPr>
          <a:xfrm>
            <a:off x="398737" y="1301132"/>
            <a:ext cx="106829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Руководитель проекта                     </a:t>
            </a:r>
            <a:r>
              <a:rPr lang="ru-RU" sz="1600" b="1" dirty="0">
                <a:solidFill>
                  <a:prstClr val="black"/>
                </a:solidFill>
                <a:latin typeface="Calibri"/>
              </a:rPr>
              <a:t>                    </a:t>
            </a:r>
            <a:r>
              <a:rPr lang="ru-RU" sz="1600" dirty="0">
                <a:solidFill>
                  <a:prstClr val="black"/>
                </a:solidFill>
                <a:latin typeface="Calibri"/>
              </a:rPr>
              <a:t>главный научный сотрудник, </a:t>
            </a:r>
            <a:r>
              <a:rPr kumimoji="0" lang="ru-RU" sz="1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доктор технических наук, профессор </a:t>
            </a:r>
            <a:r>
              <a:rPr kumimoji="0" lang="ru-RU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				     </a:t>
            </a:r>
            <a:r>
              <a:rPr lang="ru-RU" sz="1600" b="1" dirty="0">
                <a:solidFill>
                  <a:prstClr val="black"/>
                </a:solidFill>
                <a:latin typeface="Calibri"/>
              </a:rPr>
              <a:t>Терентьев Алексей Вячеславович</a:t>
            </a:r>
            <a:endParaRPr kumimoji="0" lang="ru-RU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C4DA2D-75DC-909F-8016-D324819DF0E0}"/>
              </a:ext>
            </a:extLst>
          </p:cNvPr>
          <p:cNvSpPr txBox="1"/>
          <p:nvPr/>
        </p:nvSpPr>
        <p:spPr>
          <a:xfrm>
            <a:off x="360223" y="1996064"/>
            <a:ext cx="41627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Всего исполнителей: ___________________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D1BF2F-F887-C5F8-3C4A-23B8F7D1620D}"/>
              </a:ext>
            </a:extLst>
          </p:cNvPr>
          <p:cNvSpPr txBox="1"/>
          <p:nvPr/>
        </p:nvSpPr>
        <p:spPr>
          <a:xfrm>
            <a:off x="398738" y="2732157"/>
            <a:ext cx="43325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Докторов наук: _______________________</a:t>
            </a:r>
            <a:r>
              <a:rPr kumimoji="0" lang="ru-RU" sz="16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endParaRPr kumimoji="0" lang="ru-RU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8CFE81-C549-5B25-1F0A-A1B929B17443}"/>
              </a:ext>
            </a:extLst>
          </p:cNvPr>
          <p:cNvSpPr txBox="1"/>
          <p:nvPr/>
        </p:nvSpPr>
        <p:spPr>
          <a:xfrm>
            <a:off x="360224" y="5439526"/>
            <a:ext cx="118317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</a:rPr>
              <a:t>Организации - соисполнители</a:t>
            </a:r>
            <a:r>
              <a:rPr kumimoji="0" lang="ru-RU" sz="1200" b="1" i="0" u="none" strike="noStrike" kern="1200" cap="none" spc="0" normalizeH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</a:rPr>
              <a:t> проекта:</a:t>
            </a:r>
          </a:p>
          <a:p>
            <a:pPr marL="285750" lvl="0" indent="-285750">
              <a:buFontTx/>
              <a:buChar char="-"/>
            </a:pPr>
            <a:r>
              <a:rPr lang="ru-RU" sz="1200" b="1" dirty="0">
                <a:solidFill>
                  <a:srgbClr val="0070C0"/>
                </a:solidFill>
                <a:latin typeface="Calibri"/>
              </a:rPr>
              <a:t>Федеральное государственное бюджетное научное учреждение «ФЕДЕРАЛЬНЫЙ НАУЧНЫЙ АГРОИНЖЕНЕРНЫЙ ЦЕНТР ВИМ»</a:t>
            </a:r>
          </a:p>
          <a:p>
            <a:pPr marL="285750" lvl="0" indent="-285750">
              <a:buFontTx/>
              <a:buChar char="-"/>
            </a:pPr>
            <a:r>
              <a:rPr lang="ru-RU" sz="1200" b="1" dirty="0">
                <a:solidFill>
                  <a:srgbClr val="0070C0"/>
                </a:solidFill>
                <a:latin typeface="Calibri"/>
              </a:rPr>
              <a:t>Федеральное государственное бюджетное образовательное учреждение высшего образования «УДМУРТСКИЙ ГОСУДАРСТВЕННЫЙ УНИВЕРСИТЕТ»</a:t>
            </a:r>
          </a:p>
          <a:p>
            <a:pPr marL="285750" indent="-285750">
              <a:buFontTx/>
              <a:buChar char="-"/>
            </a:pPr>
            <a:r>
              <a:rPr lang="ru-RU" sz="1200" b="1" dirty="0">
                <a:solidFill>
                  <a:srgbClr val="0070C0"/>
                </a:solidFill>
                <a:latin typeface="Calibri"/>
              </a:rPr>
              <a:t>Федеральное государственное бюджетное научное учреждение «ОМСКИЙ АГРАРНЫЙ НАУЧНЫЙ ЦЕНТР»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55A872F3-91B8-6DB7-41C1-884E74776633}"/>
              </a:ext>
            </a:extLst>
          </p:cNvPr>
          <p:cNvSpPr/>
          <p:nvPr/>
        </p:nvSpPr>
        <p:spPr>
          <a:xfrm>
            <a:off x="2624956" y="1914318"/>
            <a:ext cx="1060710" cy="34724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>
                <a:solidFill>
                  <a:schemeClr val="tx1"/>
                </a:solidFill>
              </a:rPr>
              <a:t>37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C4A13A4-20D8-9671-5AAE-F9D6830B84EE}"/>
              </a:ext>
            </a:extLst>
          </p:cNvPr>
          <p:cNvSpPr/>
          <p:nvPr/>
        </p:nvSpPr>
        <p:spPr>
          <a:xfrm>
            <a:off x="2635797" y="4113657"/>
            <a:ext cx="1060710" cy="34724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>
                <a:solidFill>
                  <a:schemeClr val="tx1"/>
                </a:solidFill>
              </a:rPr>
              <a:t>20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60EC8AA-6A0C-EBD4-A2A0-B41760F6F92A}"/>
              </a:ext>
            </a:extLst>
          </p:cNvPr>
          <p:cNvSpPr txBox="1"/>
          <p:nvPr/>
        </p:nvSpPr>
        <p:spPr>
          <a:xfrm>
            <a:off x="360224" y="3463780"/>
            <a:ext cx="43325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Кандидатов наук: _____________________</a:t>
            </a:r>
            <a:r>
              <a:rPr kumimoji="0" lang="ru-RU" sz="16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endParaRPr kumimoji="0" lang="ru-RU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58D1BA3-85A1-FC6E-C334-64C66AA26C69}"/>
              </a:ext>
            </a:extLst>
          </p:cNvPr>
          <p:cNvSpPr txBox="1"/>
          <p:nvPr/>
        </p:nvSpPr>
        <p:spPr>
          <a:xfrm>
            <a:off x="360224" y="4210166"/>
            <a:ext cx="43325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Молодых ученых: ____________________</a:t>
            </a:r>
            <a:r>
              <a:rPr kumimoji="0" lang="ru-RU" sz="16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endParaRPr kumimoji="0" lang="ru-RU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9C1D95FE-ACB0-D6E1-128C-516789DCB290}"/>
              </a:ext>
            </a:extLst>
          </p:cNvPr>
          <p:cNvSpPr/>
          <p:nvPr/>
        </p:nvSpPr>
        <p:spPr>
          <a:xfrm>
            <a:off x="2635797" y="2637254"/>
            <a:ext cx="1060710" cy="34724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>
                <a:solidFill>
                  <a:schemeClr val="tx1"/>
                </a:solidFill>
              </a:rPr>
              <a:t>8 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C06D1E8D-0DD7-26D3-3C60-C975C5B5627D}"/>
              </a:ext>
            </a:extLst>
          </p:cNvPr>
          <p:cNvSpPr/>
          <p:nvPr/>
        </p:nvSpPr>
        <p:spPr>
          <a:xfrm>
            <a:off x="2635797" y="3360791"/>
            <a:ext cx="1060710" cy="34724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>
                <a:solidFill>
                  <a:schemeClr val="tx1"/>
                </a:solidFill>
              </a:rPr>
              <a:t>11</a:t>
            </a:r>
          </a:p>
        </p:txBody>
      </p:sp>
      <p:pic>
        <p:nvPicPr>
          <p:cNvPr id="13" name="Picture 2" descr="Picture background">
            <a:extLst>
              <a:ext uri="{FF2B5EF4-FFF2-40B4-BE49-F238E27FC236}">
                <a16:creationId xmlns:a16="http://schemas.microsoft.com/office/drawing/2014/main" id="{5B17A891-F683-5210-A0DE-8F90685347C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00" t="11564" r="12851" b="9538"/>
          <a:stretch/>
        </p:blipFill>
        <p:spPr bwMode="auto">
          <a:xfrm>
            <a:off x="5745991" y="3599954"/>
            <a:ext cx="1509622" cy="8609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4" descr="https://udsu.ru/cache/Image/3015@bigbox-%D0%9B%D0%BE%D0%B3%D0%BE-%D0%A3%D0%B4%D0%93%D0%A3.jpg">
            <a:extLst>
              <a:ext uri="{FF2B5EF4-FFF2-40B4-BE49-F238E27FC236}">
                <a16:creationId xmlns:a16="http://schemas.microsoft.com/office/drawing/2014/main" id="{C97B317B-09CC-6B11-2C3B-93B3770CB5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7167" y="3582997"/>
            <a:ext cx="967492" cy="9597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2" descr="https://vim.ru/include/logo_MON.png">
            <a:extLst>
              <a:ext uri="{FF2B5EF4-FFF2-40B4-BE49-F238E27FC236}">
                <a16:creationId xmlns:a16="http://schemas.microsoft.com/office/drawing/2014/main" id="{859125F4-9E97-9CDD-05BB-59BA95A7E7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65192" y="3462102"/>
            <a:ext cx="987307" cy="1136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29DF2003-EB60-AFFF-093D-DA048B87E081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013" b="26590"/>
          <a:stretch>
            <a:fillRect/>
          </a:stretch>
        </p:blipFill>
        <p:spPr>
          <a:xfrm>
            <a:off x="6500802" y="2323069"/>
            <a:ext cx="3157284" cy="748228"/>
          </a:xfrm>
          <a:prstGeom prst="rect">
            <a:avLst/>
          </a:prstGeom>
        </p:spPr>
      </p:pic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44128936-7DDB-5298-DDE2-F7667B83DEE5}"/>
              </a:ext>
            </a:extLst>
          </p:cNvPr>
          <p:cNvSpPr/>
          <p:nvPr/>
        </p:nvSpPr>
        <p:spPr>
          <a:xfrm>
            <a:off x="357197" y="4995044"/>
            <a:ext cx="1166885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200" b="1" dirty="0">
                <a:solidFill>
                  <a:srgbClr val="0070C0"/>
                </a:solidFill>
              </a:rPr>
              <a:t>Организации - исполнитель проекта:</a:t>
            </a:r>
          </a:p>
          <a:p>
            <a:r>
              <a:rPr lang="ru-RU" sz="1200" b="1" dirty="0">
                <a:solidFill>
                  <a:srgbClr val="0070C0"/>
                </a:solidFill>
                <a:latin typeface="Calibri"/>
              </a:rPr>
              <a:t>Федеральное государственное бюджетное образовательное учреждение высшего образования «Государственный университет управления»</a:t>
            </a:r>
          </a:p>
        </p:txBody>
      </p:sp>
      <p:sp>
        <p:nvSpPr>
          <p:cNvPr id="19" name="Номер слайда 18">
            <a:extLst>
              <a:ext uri="{FF2B5EF4-FFF2-40B4-BE49-F238E27FC236}">
                <a16:creationId xmlns:a16="http://schemas.microsoft.com/office/drawing/2014/main" id="{E35B6C5D-9A3C-3BE2-A1F0-52BE71A08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6827F-A79C-48A5-9FEC-A2BFF2596D14}" type="slidenum">
              <a:rPr lang="ru-RU" smtClean="0"/>
              <a:pPr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56810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Рисунок 4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2397" y="144046"/>
            <a:ext cx="2075742" cy="6713954"/>
          </a:xfrm>
          <a:prstGeom prst="rect">
            <a:avLst/>
          </a:prstGeom>
        </p:spPr>
      </p:pic>
      <p:sp>
        <p:nvSpPr>
          <p:cNvPr id="15" name="Прямоугольник 14"/>
          <p:cNvSpPr/>
          <p:nvPr/>
        </p:nvSpPr>
        <p:spPr>
          <a:xfrm>
            <a:off x="210570" y="197386"/>
            <a:ext cx="10952730" cy="36933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endParaRPr lang="ru-RU" b="1" dirty="0"/>
          </a:p>
        </p:txBody>
      </p:sp>
      <p:pic>
        <p:nvPicPr>
          <p:cNvPr id="19" name="Рисунок 1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681"/>
            <a:ext cx="12192000" cy="981457"/>
          </a:xfrm>
          <a:prstGeom prst="rect">
            <a:avLst/>
          </a:prstGeom>
        </p:spPr>
      </p:pic>
      <p:sp>
        <p:nvSpPr>
          <p:cNvPr id="20" name="Прямоугольник 19"/>
          <p:cNvSpPr/>
          <p:nvPr/>
        </p:nvSpPr>
        <p:spPr>
          <a:xfrm>
            <a:off x="176220" y="327025"/>
            <a:ext cx="1183955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>
                <a:latin typeface="Verdana" panose="020B0604030504040204" pitchFamily="34" charset="0"/>
                <a:ea typeface="Verdana" panose="020B0604030504040204" pitchFamily="34" charset="0"/>
              </a:rPr>
              <a:t>ОСНОВНЫЕ РЕЗУЛЬТАТЫ ПРОЕКТА на 01.10.2026</a:t>
            </a:r>
            <a:endParaRPr lang="ru-RU" i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C00C01FD-3E81-499F-AD88-CB41EFFEC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6827F-A79C-48A5-9FEC-A2BFF2596D14}" type="slidenum">
              <a:rPr lang="ru-RU" smtClean="0"/>
              <a:pPr/>
              <a:t>2</a:t>
            </a:fld>
            <a:endParaRPr lang="ru-RU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25F9E12C-C7D2-A9BD-52CF-098F1750E981}"/>
              </a:ext>
            </a:extLst>
          </p:cNvPr>
          <p:cNvSpPr/>
          <p:nvPr/>
        </p:nvSpPr>
        <p:spPr>
          <a:xfrm>
            <a:off x="5351945" y="1407340"/>
            <a:ext cx="6663834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39738" algn="just" defTabSz="920750">
              <a:tabLst>
                <a:tab pos="6453188" algn="l"/>
              </a:tabLst>
            </a:pPr>
            <a:r>
              <a:rPr lang="ru-RU" sz="1600" dirty="0"/>
              <a:t>- Разработана цифровая управляющая платформа полным циклом агропромышленного производства, технологиями органического и углерод-нейтрального земледелия, системами поддержки принятия управленческих решений, технологиями замыкания производственных циклов в сфере АПК, технологиями утилизации, логистикой, сбытом, производственной и потребительской кооперацией, а также взаимодействием различных экономических агентов в едином экономическом цикле в сфере АПК.</a:t>
            </a:r>
          </a:p>
          <a:p>
            <a:pPr indent="439738" algn="just" defTabSz="920750">
              <a:tabLst>
                <a:tab pos="6453188" algn="l"/>
              </a:tabLst>
            </a:pPr>
            <a:r>
              <a:rPr lang="ru-RU" sz="1600" dirty="0"/>
              <a:t>- Разработана и внедрена многоуровневая топология обработки данных с онтологически-ориентированным конвейером, обеспечивающим извлечение скрытых знаний из разнородных источников (от бортовых компьютеров техники до государственных информационных систем).</a:t>
            </a:r>
          </a:p>
          <a:p>
            <a:pPr indent="439738" algn="just" defTabSz="920750">
              <a:tabLst>
                <a:tab pos="6453188" algn="l"/>
              </a:tabLst>
            </a:pPr>
            <a:r>
              <a:rPr lang="ru-RU" sz="1600" dirty="0"/>
              <a:t>- Обеспечена совместимость программной и аппаратной инфраструктуры с решениями, включёнными в Единый реестр российского ПО. В качестве базовых операционных систем на всех уровнях используются сертифицированные дистрибутивы ОС «Альт», </a:t>
            </a:r>
            <a:r>
              <a:rPr lang="ru-RU" sz="1600" dirty="0" err="1"/>
              <a:t>Astra</a:t>
            </a:r>
            <a:r>
              <a:rPr lang="ru-RU" sz="1600" dirty="0"/>
              <a:t> </a:t>
            </a:r>
            <a:r>
              <a:rPr lang="ru-RU" sz="1600" dirty="0" err="1"/>
              <a:t>Linux</a:t>
            </a:r>
            <a:r>
              <a:rPr lang="ru-RU" sz="1600" dirty="0"/>
              <a:t> SE и РЕД ОС. Это гарантирует возможность проведения аудита исходных кодов, контроль над исполнительной средой, и устранение зависимости от импортного ПО, аппаратных и технологических решений.</a:t>
            </a:r>
            <a:endParaRPr lang="ru-RU" sz="1100" dirty="0">
              <a:ea typeface="Calibri" panose="020F0502020204030204" pitchFamily="34" charset="0"/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413E43A7-A8A3-48F4-A67F-FE11AA52FBB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219" y="1140541"/>
            <a:ext cx="4961061" cy="2705328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DB6516C-3874-42F4-B75D-46C16BD988EA}"/>
              </a:ext>
            </a:extLst>
          </p:cNvPr>
          <p:cNvSpPr txBox="1"/>
          <p:nvPr/>
        </p:nvSpPr>
        <p:spPr>
          <a:xfrm>
            <a:off x="13861" y="990845"/>
            <a:ext cx="562236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600" b="1" dirty="0"/>
              <a:t>Интерфейс цифровой платформы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B1FC6480-26D4-4007-B969-9DEBEF4BFC66}"/>
              </a:ext>
            </a:extLst>
          </p:cNvPr>
          <p:cNvSpPr/>
          <p:nvPr/>
        </p:nvSpPr>
        <p:spPr>
          <a:xfrm>
            <a:off x="195347" y="3849293"/>
            <a:ext cx="488845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sz="1600" b="1" dirty="0"/>
              <a:t>Пример производственной сводки по объектам АПК</a:t>
            </a:r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549B5839-F242-4BB3-B72A-8CF52A6CD01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219" y="4166425"/>
            <a:ext cx="4926710" cy="2642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72563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Рисунок 4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2397" y="144046"/>
            <a:ext cx="2075742" cy="6713954"/>
          </a:xfrm>
          <a:prstGeom prst="rect">
            <a:avLst/>
          </a:prstGeom>
        </p:spPr>
      </p:pic>
      <p:sp>
        <p:nvSpPr>
          <p:cNvPr id="15" name="Прямоугольник 14"/>
          <p:cNvSpPr/>
          <p:nvPr/>
        </p:nvSpPr>
        <p:spPr>
          <a:xfrm>
            <a:off x="210570" y="197386"/>
            <a:ext cx="10952730" cy="36933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endParaRPr lang="ru-RU" b="1" dirty="0"/>
          </a:p>
        </p:txBody>
      </p:sp>
      <p:pic>
        <p:nvPicPr>
          <p:cNvPr id="19" name="Рисунок 1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681"/>
            <a:ext cx="12192000" cy="981457"/>
          </a:xfrm>
          <a:prstGeom prst="rect">
            <a:avLst/>
          </a:prstGeom>
        </p:spPr>
      </p:pic>
      <p:sp>
        <p:nvSpPr>
          <p:cNvPr id="20" name="Прямоугольник 19"/>
          <p:cNvSpPr/>
          <p:nvPr/>
        </p:nvSpPr>
        <p:spPr>
          <a:xfrm>
            <a:off x="176220" y="327025"/>
            <a:ext cx="1183955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>
                <a:latin typeface="Verdana" panose="020B0604030504040204" pitchFamily="34" charset="0"/>
                <a:ea typeface="Verdana" panose="020B0604030504040204" pitchFamily="34" charset="0"/>
              </a:rPr>
              <a:t>ОСНОВНЫЕ РЕЗУЛЬТАТЫ ПРОЕКТА на 01.10.2026 (продолжение)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4C77F8E0-165A-41F4-A7A1-25731CEFE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6827F-A79C-48A5-9FEC-A2BFF2596D14}" type="slidenum">
              <a:rPr lang="ru-RU" smtClean="0"/>
              <a:pPr/>
              <a:t>3</a:t>
            </a:fld>
            <a:endParaRPr lang="ru-RU" dirty="0"/>
          </a:p>
        </p:txBody>
      </p:sp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3CB62C29-B0C1-08C7-C5A2-D5B117CB39B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3340" y="1421592"/>
            <a:ext cx="5221132" cy="381975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9CFA5CA-1A39-E209-6323-349D7D4A11FE}"/>
              </a:ext>
            </a:extLst>
          </p:cNvPr>
          <p:cNvSpPr txBox="1"/>
          <p:nvPr/>
        </p:nvSpPr>
        <p:spPr>
          <a:xfrm>
            <a:off x="339993" y="5361424"/>
            <a:ext cx="11409223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151130" algn="just" hangingPunct="0">
              <a:buNone/>
            </a:pPr>
            <a:r>
              <a:rPr lang="ru-RU" sz="1400" dirty="0"/>
              <a:t>Когда система получает данные, например, из ФГИС «Зерно» или бортового компьютера техники, она анализирует их содержание и с помощью правил и обученных моделей, извлекает скрытые знания, подкрепленные в том числе и экспертными оценками.</a:t>
            </a:r>
          </a:p>
          <a:p>
            <a:pPr indent="151130" algn="just" hangingPunct="0">
              <a:buNone/>
            </a:pPr>
            <a:endParaRPr lang="ru-RU" sz="1400" dirty="0"/>
          </a:p>
          <a:p>
            <a:pPr indent="151130" algn="just" hangingPunct="0">
              <a:buNone/>
            </a:pPr>
            <a:r>
              <a:rPr lang="ru-RU" sz="1400" dirty="0"/>
              <a:t>Интеграция с ФГИС «Зерно» или с проектом Ситуационного Аналитического Центра "Почвенные и земельные ресурсы России» и прочими системами гарантирует единое информационное пространство для финансово-экономических и производственных показателей.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27A6207-4EC9-24A2-5C3E-B6B26B262168}"/>
              </a:ext>
            </a:extLst>
          </p:cNvPr>
          <p:cNvSpPr txBox="1"/>
          <p:nvPr/>
        </p:nvSpPr>
        <p:spPr>
          <a:xfrm>
            <a:off x="6044605" y="1023388"/>
            <a:ext cx="6098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/>
              <a:t>Онтологически-ориентированный конвейер данных </a:t>
            </a: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2EE4635B-9B4A-41C5-8A26-4080E745AC0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93" y="1616653"/>
            <a:ext cx="6321841" cy="3417745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0B930E01-D279-4A16-9156-EB96DBC19653}"/>
              </a:ext>
            </a:extLst>
          </p:cNvPr>
          <p:cNvSpPr txBox="1"/>
          <p:nvPr/>
        </p:nvSpPr>
        <p:spPr>
          <a:xfrm>
            <a:off x="386256" y="1112841"/>
            <a:ext cx="562236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600" b="1" dirty="0"/>
              <a:t>«Лаборатория данных» на цифровой платформе</a:t>
            </a:r>
          </a:p>
        </p:txBody>
      </p:sp>
    </p:spTree>
    <p:extLst>
      <p:ext uri="{BB962C8B-B14F-4D97-AF65-F5344CB8AC3E}">
        <p14:creationId xmlns:p14="http://schemas.microsoft.com/office/powerpoint/2010/main" val="25952565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A01B9E-A903-5FBB-4035-714770BB4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Рисунок 42">
            <a:extLst>
              <a:ext uri="{FF2B5EF4-FFF2-40B4-BE49-F238E27FC236}">
                <a16:creationId xmlns:a16="http://schemas.microsoft.com/office/drawing/2014/main" id="{A36C4B77-081B-D9F8-71B5-1CDC056A75A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2397" y="144046"/>
            <a:ext cx="2075742" cy="6713954"/>
          </a:xfrm>
          <a:prstGeom prst="rect">
            <a:avLst/>
          </a:prstGeom>
        </p:spPr>
      </p:pic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3F5932AF-D6C7-C8EB-FE83-208D5E6A242A}"/>
              </a:ext>
            </a:extLst>
          </p:cNvPr>
          <p:cNvSpPr/>
          <p:nvPr/>
        </p:nvSpPr>
        <p:spPr>
          <a:xfrm>
            <a:off x="210570" y="197386"/>
            <a:ext cx="10952730" cy="36933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endParaRPr lang="ru-RU" b="1" dirty="0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D55C9DF2-DCC8-B035-29F1-E65703843E3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681"/>
            <a:ext cx="12192000" cy="981457"/>
          </a:xfrm>
          <a:prstGeom prst="rect">
            <a:avLst/>
          </a:prstGeom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8592C86B-700A-BE56-8A1F-A5D3814CA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6827F-A79C-48A5-9FEC-A2BFF2596D14}" type="slidenum">
              <a:rPr lang="ru-RU" smtClean="0"/>
              <a:pPr/>
              <a:t>4</a:t>
            </a:fld>
            <a:endParaRPr lang="ru-RU" dirty="0"/>
          </a:p>
        </p:txBody>
      </p:sp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5972BC40-4E73-E16B-C22E-2F49626681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3151601"/>
              </p:ext>
            </p:extLst>
          </p:nvPr>
        </p:nvGraphicFramePr>
        <p:xfrm>
          <a:off x="87384" y="1427538"/>
          <a:ext cx="5548837" cy="4314356"/>
        </p:xfrm>
        <a:graphic>
          <a:graphicData uri="http://schemas.openxmlformats.org/drawingml/2006/table">
            <a:tbl>
              <a:tblPr firstRow="1" bandRow="1" bandCol="1">
                <a:tableStyleId>{912C8C85-51F0-491E-9774-3900AFEF0FD7}</a:tableStyleId>
              </a:tblPr>
              <a:tblGrid>
                <a:gridCol w="1151498">
                  <a:extLst>
                    <a:ext uri="{9D8B030D-6E8A-4147-A177-3AD203B41FA5}">
                      <a16:colId xmlns:a16="http://schemas.microsoft.com/office/drawing/2014/main" val="2653928093"/>
                    </a:ext>
                  </a:extLst>
                </a:gridCol>
                <a:gridCol w="1622921">
                  <a:extLst>
                    <a:ext uri="{9D8B030D-6E8A-4147-A177-3AD203B41FA5}">
                      <a16:colId xmlns:a16="http://schemas.microsoft.com/office/drawing/2014/main" val="1233686572"/>
                    </a:ext>
                  </a:extLst>
                </a:gridCol>
                <a:gridCol w="1387209">
                  <a:extLst>
                    <a:ext uri="{9D8B030D-6E8A-4147-A177-3AD203B41FA5}">
                      <a16:colId xmlns:a16="http://schemas.microsoft.com/office/drawing/2014/main" val="2133602852"/>
                    </a:ext>
                  </a:extLst>
                </a:gridCol>
                <a:gridCol w="1387209">
                  <a:extLst>
                    <a:ext uri="{9D8B030D-6E8A-4147-A177-3AD203B41FA5}">
                      <a16:colId xmlns:a16="http://schemas.microsoft.com/office/drawing/2014/main" val="1114622671"/>
                    </a:ext>
                  </a:extLst>
                </a:gridCol>
              </a:tblGrid>
              <a:tr h="41813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900" b="1" kern="100" dirty="0">
                          <a:solidFill>
                            <a:schemeClr val="tx1"/>
                          </a:solidFill>
                          <a:effectLst/>
                        </a:rPr>
                        <a:t>Сегмент</a:t>
                      </a:r>
                      <a:endParaRPr lang="ru-RU" sz="105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56069" marR="56069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900" b="1" kern="100" dirty="0">
                          <a:solidFill>
                            <a:schemeClr val="tx1"/>
                          </a:solidFill>
                          <a:effectLst/>
                        </a:rPr>
                        <a:t>Ключевые потребности</a:t>
                      </a:r>
                      <a:endParaRPr lang="ru-RU" sz="105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56069" marR="56069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900" b="1" kern="100" dirty="0">
                          <a:solidFill>
                            <a:schemeClr val="tx1"/>
                          </a:solidFill>
                          <a:effectLst/>
                        </a:rPr>
                        <a:t>Предпочтительные модели взаимодействия</a:t>
                      </a:r>
                      <a:endParaRPr lang="ru-RU" sz="105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56069" marR="56069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900" b="1" kern="100" dirty="0">
                          <a:solidFill>
                            <a:schemeClr val="tx1"/>
                          </a:solidFill>
                          <a:effectLst/>
                        </a:rPr>
                        <a:t>Обоснование</a:t>
                      </a:r>
                      <a:endParaRPr lang="ru-RU" sz="105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56069" marR="56069" marT="0" marB="0" anchor="ctr"/>
                </a:tc>
                <a:extLst>
                  <a:ext uri="{0D108BD9-81ED-4DB2-BD59-A6C34878D82A}">
                    <a16:rowId xmlns:a16="http://schemas.microsoft.com/office/drawing/2014/main" val="4045323237"/>
                  </a:ext>
                </a:extLst>
              </a:tr>
              <a:tr h="862872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900" b="1" kern="100" dirty="0">
                          <a:effectLst/>
                        </a:rPr>
                        <a:t>Фермерские хозяйства (малые/средние)</a:t>
                      </a:r>
                      <a:endParaRPr lang="ru-RU" sz="1050" b="1" kern="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56069" marR="56069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900" kern="100" dirty="0">
                          <a:effectLst/>
                        </a:rPr>
                        <a:t>Повышение прибыльности, оптимизация ресурсов, доступ к финансированию, простота использования.</a:t>
                      </a:r>
                      <a:endParaRPr lang="ru-RU" sz="1050" kern="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56069" marR="56069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900" kern="100" dirty="0">
                          <a:effectLst/>
                        </a:rPr>
                        <a:t>Подписка (</a:t>
                      </a:r>
                      <a:r>
                        <a:rPr lang="ru-RU" sz="900" kern="100" dirty="0" err="1">
                          <a:effectLst/>
                        </a:rPr>
                        <a:t>Freemium</a:t>
                      </a:r>
                      <a:r>
                        <a:rPr lang="ru-RU" sz="900" kern="100" dirty="0">
                          <a:effectLst/>
                        </a:rPr>
                        <a:t>), Транзакционная комиссия (при наличии маркетплейса).</a:t>
                      </a:r>
                      <a:endParaRPr lang="ru-RU" sz="1050" kern="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56069" marR="56069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900" kern="100" dirty="0">
                          <a:effectLst/>
                        </a:rPr>
                        <a:t>Низкие барьеры входа, оплата за результат, что критично для бюджета малых хозяйств. Требуется обучение и поддержка.</a:t>
                      </a:r>
                      <a:endParaRPr lang="ru-RU" sz="1050" kern="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56069" marR="56069" marT="0" marB="0" anchor="ctr"/>
                </a:tc>
                <a:extLst>
                  <a:ext uri="{0D108BD9-81ED-4DB2-BD59-A6C34878D82A}">
                    <a16:rowId xmlns:a16="http://schemas.microsoft.com/office/drawing/2014/main" val="4190572765"/>
                  </a:ext>
                </a:extLst>
              </a:tr>
              <a:tr h="862872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900" b="1" kern="100" dirty="0" err="1">
                          <a:effectLst/>
                        </a:rPr>
                        <a:t>Агроагрегаторы</a:t>
                      </a:r>
                      <a:r>
                        <a:rPr lang="ru-RU" sz="900" b="1" kern="100" dirty="0">
                          <a:effectLst/>
                        </a:rPr>
                        <a:t> и холдинги</a:t>
                      </a:r>
                      <a:endParaRPr lang="ru-RU" sz="1050" b="1" kern="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56069" marR="56069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900" kern="100" dirty="0">
                          <a:effectLst/>
                        </a:rPr>
                        <a:t>Централизованное управление, оптимизация логистики, контроль качества, автоматизация расчетов.</a:t>
                      </a:r>
                      <a:endParaRPr lang="ru-RU" sz="1050" kern="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56069" marR="56069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900" kern="100" dirty="0">
                          <a:effectLst/>
                        </a:rPr>
                        <a:t>Корпоративная подписка (</a:t>
                      </a:r>
                      <a:r>
                        <a:rPr lang="ru-RU" sz="900" kern="100" dirty="0" err="1">
                          <a:effectLst/>
                        </a:rPr>
                        <a:t>SaaS</a:t>
                      </a:r>
                      <a:r>
                        <a:rPr lang="ru-RU" sz="900" kern="100" dirty="0">
                          <a:effectLst/>
                        </a:rPr>
                        <a:t>), Смарт-контракты.</a:t>
                      </a:r>
                      <a:endParaRPr lang="ru-RU" sz="1050" kern="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56069" marR="56069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900" kern="100" dirty="0">
                          <a:effectLst/>
                        </a:rPr>
                        <a:t>Стандартная модель ИТ-закупок, высокая ценность для управления крупными операциями, снижение издержек и рисков.</a:t>
                      </a:r>
                      <a:endParaRPr lang="ru-RU" sz="1050" kern="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56069" marR="56069" marT="0" marB="0" anchor="ctr"/>
                </a:tc>
                <a:extLst>
                  <a:ext uri="{0D108BD9-81ED-4DB2-BD59-A6C34878D82A}">
                    <a16:rowId xmlns:a16="http://schemas.microsoft.com/office/drawing/2014/main" val="2115584557"/>
                  </a:ext>
                </a:extLst>
              </a:tr>
              <a:tr h="1085241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900" b="1" kern="100" dirty="0">
                          <a:effectLst/>
                        </a:rPr>
                        <a:t>Логистические компании и переработчики</a:t>
                      </a:r>
                      <a:endParaRPr lang="ru-RU" sz="1050" b="1" kern="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56069" marR="56069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900" kern="100" dirty="0">
                          <a:effectLst/>
                        </a:rPr>
                        <a:t>Планирование операций, контроль условий транспортировки, оптимизация маршрутов, минимизация потерь.</a:t>
                      </a:r>
                      <a:endParaRPr lang="ru-RU" sz="1050" kern="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56069" marR="56069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900" kern="100" dirty="0">
                          <a:effectLst/>
                        </a:rPr>
                        <a:t>API-платформа (B2B), Транзакционная комиссия (при использовании сервисов платформы).</a:t>
                      </a:r>
                      <a:endParaRPr lang="ru-RU" sz="1050" kern="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56069" marR="56069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900" kern="100" dirty="0">
                          <a:effectLst/>
                        </a:rPr>
                        <a:t>Доступ к надежным данным для планирования, оплата за фактическое использование, что соответствует их операционным моделям.</a:t>
                      </a:r>
                      <a:endParaRPr lang="ru-RU" sz="1050" kern="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56069" marR="56069" marT="0" marB="0" anchor="ctr"/>
                </a:tc>
                <a:extLst>
                  <a:ext uri="{0D108BD9-81ED-4DB2-BD59-A6C34878D82A}">
                    <a16:rowId xmlns:a16="http://schemas.microsoft.com/office/drawing/2014/main" val="404136396"/>
                  </a:ext>
                </a:extLst>
              </a:tr>
              <a:tr h="1085241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900" b="1" kern="100" dirty="0">
                          <a:effectLst/>
                        </a:rPr>
                        <a:t>Государственные регуляторы</a:t>
                      </a:r>
                      <a:endParaRPr lang="ru-RU" sz="1050" b="1" kern="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56069" marR="56069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900" kern="100" dirty="0">
                          <a:effectLst/>
                        </a:rPr>
                        <a:t>Получение достоверной статистики, контроль за соблюдением норм, эффективное распределение господдержки.</a:t>
                      </a:r>
                      <a:endParaRPr lang="ru-RU" sz="1050" kern="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56069" marR="56069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900" kern="100" dirty="0">
                          <a:effectLst/>
                        </a:rPr>
                        <a:t>Государственная поддержка (гранты, заказы), Доступ к данным (Data </a:t>
                      </a:r>
                      <a:r>
                        <a:rPr lang="ru-RU" sz="900" kern="100" dirty="0" err="1">
                          <a:effectLst/>
                        </a:rPr>
                        <a:t>as</a:t>
                      </a:r>
                      <a:r>
                        <a:rPr lang="ru-RU" sz="900" kern="100" dirty="0">
                          <a:effectLst/>
                        </a:rPr>
                        <a:t> </a:t>
                      </a:r>
                      <a:r>
                        <a:rPr lang="ru-RU" sz="900" kern="100" dirty="0" err="1">
                          <a:effectLst/>
                        </a:rPr>
                        <a:t>a</a:t>
                      </a:r>
                      <a:r>
                        <a:rPr lang="ru-RU" sz="900" kern="100" dirty="0">
                          <a:effectLst/>
                        </a:rPr>
                        <a:t> Service).</a:t>
                      </a:r>
                      <a:endParaRPr lang="ru-RU" sz="1050" kern="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56069" marR="56069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900" kern="100" dirty="0">
                          <a:effectLst/>
                        </a:rPr>
                        <a:t>Возможность получения финансирования, интеграция с госсистемами, доступ к агрегированным данным для анализа политики.</a:t>
                      </a:r>
                      <a:endParaRPr lang="ru-RU" sz="1050" kern="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56069" marR="56069" marT="0" marB="0" anchor="ctr"/>
                </a:tc>
                <a:extLst>
                  <a:ext uri="{0D108BD9-81ED-4DB2-BD59-A6C34878D82A}">
                    <a16:rowId xmlns:a16="http://schemas.microsoft.com/office/drawing/2014/main" val="3583043983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3AE37444-71A6-9A17-531F-4B04214EC7EB}"/>
              </a:ext>
            </a:extLst>
          </p:cNvPr>
          <p:cNvSpPr txBox="1"/>
          <p:nvPr/>
        </p:nvSpPr>
        <p:spPr>
          <a:xfrm>
            <a:off x="13861" y="976331"/>
            <a:ext cx="56223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800" b="1" dirty="0"/>
              <a:t>Профили взаимодействия с платформой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D02C3A3-6C56-2F7C-992F-59126443AFBE}"/>
              </a:ext>
            </a:extLst>
          </p:cNvPr>
          <p:cNvSpPr txBox="1"/>
          <p:nvPr/>
        </p:nvSpPr>
        <p:spPr>
          <a:xfrm>
            <a:off x="6180418" y="971669"/>
            <a:ext cx="56223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/>
              <a:t>Интеллектуальный ассистент «ИИ-Агроном»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A60AF29A-8992-4842-85BA-66381952A9B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4392" y="1374779"/>
            <a:ext cx="6280224" cy="3391974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EE8E40B3-A466-4018-BE4F-159932B12025}"/>
              </a:ext>
            </a:extLst>
          </p:cNvPr>
          <p:cNvSpPr/>
          <p:nvPr/>
        </p:nvSpPr>
        <p:spPr>
          <a:xfrm>
            <a:off x="87384" y="5804326"/>
            <a:ext cx="1171539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/>
              <a:t>Разработанная цифровая платформа формирует эффективную, прозрачную и удобную цифровую среду взаимодействия различных экономических субъектов в агропромышленном комплексе, включая сельхозтоваропроизводителей, агрегаторов, переработчиков, покупателей, и государственные органы.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93C934AE-513C-4D52-879E-CBA472E82960}"/>
              </a:ext>
            </a:extLst>
          </p:cNvPr>
          <p:cNvSpPr/>
          <p:nvPr/>
        </p:nvSpPr>
        <p:spPr>
          <a:xfrm>
            <a:off x="176220" y="327025"/>
            <a:ext cx="1183955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>
                <a:latin typeface="Verdana" panose="020B0604030504040204" pitchFamily="34" charset="0"/>
                <a:ea typeface="Verdana" panose="020B0604030504040204" pitchFamily="34" charset="0"/>
              </a:rPr>
              <a:t>ОСНОВНЫЕ РЕЗУЛЬТАТЫ ПРОЕКТА на 01.10.2026 (продолжение)</a:t>
            </a:r>
          </a:p>
        </p:txBody>
      </p:sp>
    </p:spTree>
    <p:extLst>
      <p:ext uri="{BB962C8B-B14F-4D97-AF65-F5344CB8AC3E}">
        <p14:creationId xmlns:p14="http://schemas.microsoft.com/office/powerpoint/2010/main" val="21493823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Рисунок 4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2397" y="144046"/>
            <a:ext cx="2075742" cy="6713954"/>
          </a:xfrm>
          <a:prstGeom prst="rect">
            <a:avLst/>
          </a:prstGeom>
        </p:spPr>
      </p:pic>
      <p:sp>
        <p:nvSpPr>
          <p:cNvPr id="15" name="Прямоугольник 14"/>
          <p:cNvSpPr/>
          <p:nvPr/>
        </p:nvSpPr>
        <p:spPr>
          <a:xfrm>
            <a:off x="210570" y="197386"/>
            <a:ext cx="10952730" cy="36933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endParaRPr lang="ru-RU" b="1" dirty="0"/>
          </a:p>
        </p:txBody>
      </p:sp>
      <p:pic>
        <p:nvPicPr>
          <p:cNvPr id="19" name="Рисунок 1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681"/>
            <a:ext cx="12192000" cy="981457"/>
          </a:xfrm>
          <a:prstGeom prst="rect">
            <a:avLst/>
          </a:prstGeom>
        </p:spPr>
      </p:pic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157EAED-7C2B-4105-9DD2-5C7C5334C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6827F-A79C-48A5-9FEC-A2BFF2596D14}" type="slidenum">
              <a:rPr lang="ru-RU" smtClean="0"/>
              <a:pPr/>
              <a:t>5</a:t>
            </a:fld>
            <a:endParaRPr lang="ru-RU" dirty="0"/>
          </a:p>
        </p:txBody>
      </p:sp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F8DDD305-FEEC-C6B6-5624-29B20E5488F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310" y="889062"/>
            <a:ext cx="4115082" cy="2644592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3F6E0F8E-F1F2-8E00-12F3-EDFF1F27C541}"/>
              </a:ext>
            </a:extLst>
          </p:cNvPr>
          <p:cNvSpPr txBox="1"/>
          <p:nvPr/>
        </p:nvSpPr>
        <p:spPr>
          <a:xfrm>
            <a:off x="52834" y="2323507"/>
            <a:ext cx="76297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 defTabSz="770400"/>
            <a:r>
              <a:rPr lang="ru-RU" sz="700" dirty="0"/>
              <a:t>Луганская </a:t>
            </a:r>
          </a:p>
          <a:p>
            <a:pPr algn="ctr" defTabSz="770400"/>
            <a:r>
              <a:rPr lang="ru-RU" sz="700" dirty="0"/>
              <a:t>Народная </a:t>
            </a:r>
          </a:p>
          <a:p>
            <a:pPr algn="ctr" defTabSz="770400"/>
            <a:r>
              <a:rPr lang="ru-RU" sz="700" dirty="0"/>
              <a:t>Республика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A001BA2-AE27-328E-70DC-172A4622B485}"/>
              </a:ext>
            </a:extLst>
          </p:cNvPr>
          <p:cNvSpPr txBox="1"/>
          <p:nvPr/>
        </p:nvSpPr>
        <p:spPr>
          <a:xfrm>
            <a:off x="1462778" y="2703562"/>
            <a:ext cx="762974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 defTabSz="770400"/>
            <a:r>
              <a:rPr lang="ru-RU" sz="700" dirty="0"/>
              <a:t>Омская область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ACA12F5-88B0-C1D0-38EC-6D93C94A3B1F}"/>
              </a:ext>
            </a:extLst>
          </p:cNvPr>
          <p:cNvSpPr txBox="1"/>
          <p:nvPr/>
        </p:nvSpPr>
        <p:spPr>
          <a:xfrm>
            <a:off x="376319" y="2666390"/>
            <a:ext cx="762974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 defTabSz="770400"/>
            <a:r>
              <a:rPr lang="ru-RU" sz="700" dirty="0"/>
              <a:t>Ростовская область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870F6B2-E99C-47DE-A1F3-F87D78306C0D}"/>
              </a:ext>
            </a:extLst>
          </p:cNvPr>
          <p:cNvSpPr txBox="1"/>
          <p:nvPr/>
        </p:nvSpPr>
        <p:spPr>
          <a:xfrm>
            <a:off x="684427" y="2336222"/>
            <a:ext cx="762974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 defTabSz="770400"/>
            <a:r>
              <a:rPr lang="ru-RU" sz="700" dirty="0"/>
              <a:t>Рязанская область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06EE53B-C7BE-B380-987A-2490660FFFB6}"/>
              </a:ext>
            </a:extLst>
          </p:cNvPr>
          <p:cNvSpPr txBox="1"/>
          <p:nvPr/>
        </p:nvSpPr>
        <p:spPr>
          <a:xfrm>
            <a:off x="646511" y="1940971"/>
            <a:ext cx="762974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 defTabSz="770400"/>
            <a:r>
              <a:rPr lang="ru-RU" sz="700" dirty="0"/>
              <a:t>Ленинградская область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7BD9B80-3D8B-29AD-320C-1F8BC6CE32E9}"/>
              </a:ext>
            </a:extLst>
          </p:cNvPr>
          <p:cNvSpPr txBox="1"/>
          <p:nvPr/>
        </p:nvSpPr>
        <p:spPr>
          <a:xfrm>
            <a:off x="1143923" y="2184118"/>
            <a:ext cx="762974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 defTabSz="770400"/>
            <a:r>
              <a:rPr lang="ru-RU" sz="700" dirty="0"/>
              <a:t>Удмуртская республика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261E2648-B7AD-4710-BAE5-743B5A55BD74}"/>
              </a:ext>
            </a:extLst>
          </p:cNvPr>
          <p:cNvSpPr/>
          <p:nvPr/>
        </p:nvSpPr>
        <p:spPr>
          <a:xfrm>
            <a:off x="4413392" y="1039478"/>
            <a:ext cx="7516991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39738" algn="just"/>
            <a:r>
              <a:rPr lang="ru-RU" sz="1600" dirty="0"/>
              <a:t>В качестве организаций, заинтересованных в результатах проекта, выступили: Государственный фонд «Защитники Отечества», НПХ «Боевое» (п. Боевой Омской области), Колхоз "Молодая Гвардия" (с. </a:t>
            </a:r>
            <a:r>
              <a:rPr lang="ru-RU" sz="1600" dirty="0" err="1"/>
              <a:t>Асаново</a:t>
            </a:r>
            <a:r>
              <a:rPr lang="ru-RU" sz="1600" dirty="0"/>
              <a:t> </a:t>
            </a:r>
            <a:r>
              <a:rPr lang="ru-RU" sz="1600" dirty="0" err="1"/>
              <a:t>Алнашского</a:t>
            </a:r>
            <a:r>
              <a:rPr lang="ru-RU" sz="1600" dirty="0"/>
              <a:t> р-на Удмуртской Республики), Удмуртский НИИ СХ (</a:t>
            </a:r>
            <a:r>
              <a:rPr lang="ru-RU" sz="1600" dirty="0" err="1"/>
              <a:t>с.Первомайский</a:t>
            </a:r>
            <a:r>
              <a:rPr lang="ru-RU" sz="1600" dirty="0"/>
              <a:t> </a:t>
            </a:r>
            <a:r>
              <a:rPr lang="ru-RU" sz="1600" dirty="0" err="1"/>
              <a:t>Завьяловского</a:t>
            </a:r>
            <a:r>
              <a:rPr lang="ru-RU" sz="1600" dirty="0"/>
              <a:t> р-на Удмуртской Республики), Ассоциация "Аграрное предпринимательство Пермского края" (г. Пермь), СПЖПСК «Сытая корова и Ко» (д. </a:t>
            </a:r>
            <a:r>
              <a:rPr lang="ru-RU" sz="1600" dirty="0" err="1"/>
              <a:t>Заосиново</a:t>
            </a:r>
            <a:r>
              <a:rPr lang="ru-RU" sz="1600" dirty="0"/>
              <a:t>, Пермский край) , ООО "АСР-Агро" (с. Орда, </a:t>
            </a:r>
            <a:r>
              <a:rPr lang="ru-RU" sz="1600" dirty="0" err="1"/>
              <a:t>Ординский</a:t>
            </a:r>
            <a:r>
              <a:rPr lang="ru-RU" sz="1600" dirty="0"/>
              <a:t> р-он, Пермский край), ООО "Удмуртская мусороперерабатывающая компания" (с. Завьялово, </a:t>
            </a:r>
            <a:r>
              <a:rPr lang="ru-RU" sz="1600" dirty="0" err="1"/>
              <a:t>Завьяловский</a:t>
            </a:r>
            <a:r>
              <a:rPr lang="ru-RU" sz="1600" dirty="0"/>
              <a:t> р-он Удмуртской Республики), СПССК "Мустанг" (с. Алнаши, </a:t>
            </a:r>
            <a:r>
              <a:rPr lang="ru-RU" sz="1600" dirty="0" err="1"/>
              <a:t>Алнашский</a:t>
            </a:r>
            <a:r>
              <a:rPr lang="ru-RU" sz="1600" dirty="0"/>
              <a:t> р-он Удмуртской Республики), ООО "</a:t>
            </a:r>
            <a:r>
              <a:rPr lang="ru-RU" sz="1600" dirty="0" err="1"/>
              <a:t>Карелбиотех</a:t>
            </a:r>
            <a:r>
              <a:rPr lang="ru-RU" sz="1600" dirty="0"/>
              <a:t>" (г. Петрозаводск, Карелия). </a:t>
            </a:r>
          </a:p>
          <a:p>
            <a:pPr indent="439738" algn="just"/>
            <a:r>
              <a:rPr lang="ru-RU" sz="1600" dirty="0"/>
              <a:t>В настоящий момент ведутся переговоры о внедрении результатов проекта в деятельность сельскохозяйственных предприятий, научно-исследовательских организаций, профильных министерств, региональных органов управления АПК более чем в 10 регионах Российской Федерации.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0C3E859-AEC1-4D79-A832-AAA9F0E71BB6}"/>
              </a:ext>
            </a:extLst>
          </p:cNvPr>
          <p:cNvSpPr txBox="1"/>
          <p:nvPr/>
        </p:nvSpPr>
        <p:spPr>
          <a:xfrm>
            <a:off x="1027998" y="2033404"/>
            <a:ext cx="762974" cy="20005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 defTabSz="770400"/>
            <a:r>
              <a:rPr lang="ru-RU" sz="700" dirty="0"/>
              <a:t>Карелия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91BA9C2-0D42-4AD5-82D6-C81F96D869E7}"/>
              </a:ext>
            </a:extLst>
          </p:cNvPr>
          <p:cNvSpPr txBox="1"/>
          <p:nvPr/>
        </p:nvSpPr>
        <p:spPr>
          <a:xfrm>
            <a:off x="1221838" y="2431228"/>
            <a:ext cx="762974" cy="20005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 defTabSz="770400"/>
            <a:r>
              <a:rPr lang="ru-RU" sz="700"/>
              <a:t>Пермский край</a:t>
            </a:r>
            <a:endParaRPr lang="ru-RU" sz="700" dirty="0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53753A32-95DD-490F-9666-E89233FBB5EA}"/>
              </a:ext>
            </a:extLst>
          </p:cNvPr>
          <p:cNvSpPr/>
          <p:nvPr/>
        </p:nvSpPr>
        <p:spPr>
          <a:xfrm>
            <a:off x="52834" y="4696864"/>
            <a:ext cx="12035922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52425" algn="just"/>
            <a:r>
              <a:rPr lang="ru-RU" sz="1600" dirty="0"/>
              <a:t>Предусматривается, что операторами станут крупные игроки в сфере цифровизации АПК - например, такие, как «</a:t>
            </a:r>
            <a:r>
              <a:rPr lang="ru-RU" sz="1600" dirty="0" err="1"/>
              <a:t>Агропромцифра</a:t>
            </a:r>
            <a:r>
              <a:rPr lang="ru-RU" sz="1600" dirty="0"/>
              <a:t>», </a:t>
            </a:r>
            <a:r>
              <a:rPr lang="ru-RU" sz="1600" dirty="0" err="1"/>
              <a:t>Россельхозбанк</a:t>
            </a:r>
            <a:r>
              <a:rPr lang="ru-RU" sz="1600" dirty="0"/>
              <a:t>, и др., а также возможно участие в распространении и поддержке платформы многопрофильных цифровых сервисов, например VK, 1С и проч., которые будут предоставлять сервисы по подписке фермерам, предприятиям, и исполнительным органам власти. </a:t>
            </a:r>
          </a:p>
          <a:p>
            <a:pPr indent="352425" algn="just"/>
            <a:r>
              <a:rPr lang="ru-RU" sz="1600" dirty="0"/>
              <a:t>Федеративный принцип организации системы подразумевает наличие нескольких операторов платформы, которые могут ориентироваться на своих клиентов, что позволит содействовать коммерциализации платформы. Такой подход обеспечивает масштабируемость и устойчивое развитие платформы в будущем.</a:t>
            </a:r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CADCE77F-5DAC-4F6E-BC28-D154E09C75F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660" y="3408860"/>
            <a:ext cx="4115082" cy="872897"/>
          </a:xfrm>
          <a:prstGeom prst="rect">
            <a:avLst/>
          </a:prstGeom>
        </p:spPr>
      </p:pic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2853969E-5A4B-4CB0-860B-2082D1EB39D9}"/>
              </a:ext>
            </a:extLst>
          </p:cNvPr>
          <p:cNvSpPr/>
          <p:nvPr/>
        </p:nvSpPr>
        <p:spPr>
          <a:xfrm>
            <a:off x="176220" y="327025"/>
            <a:ext cx="1183955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>
                <a:latin typeface="Verdana" panose="020B0604030504040204" pitchFamily="34" charset="0"/>
                <a:ea typeface="Verdana" panose="020B0604030504040204" pitchFamily="34" charset="0"/>
              </a:rPr>
              <a:t>ОСНОВНЫЕ РЕЗУЛЬТАТЫ ПРОЕКТА на 01.10.2026 (продолжение)</a:t>
            </a:r>
          </a:p>
        </p:txBody>
      </p:sp>
      <p:pic>
        <p:nvPicPr>
          <p:cNvPr id="1029" name="Рисунок 4">
            <a:extLst>
              <a:ext uri="{FF2B5EF4-FFF2-40B4-BE49-F238E27FC236}">
                <a16:creationId xmlns:a16="http://schemas.microsoft.com/office/drawing/2014/main" id="{A993F1D5-3F5A-4777-B355-8619E333C4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47700" cy="647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Рисунок 40">
            <a:extLst>
              <a:ext uri="{FF2B5EF4-FFF2-40B4-BE49-F238E27FC236}">
                <a16:creationId xmlns:a16="http://schemas.microsoft.com/office/drawing/2014/main" id="{71B7D58C-C125-4BA7-88E7-A51929D4E6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771525" cy="600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Рисунок 5">
            <a:extLst>
              <a:ext uri="{FF2B5EF4-FFF2-40B4-BE49-F238E27FC236}">
                <a16:creationId xmlns:a16="http://schemas.microsoft.com/office/drawing/2014/main" id="{D8AD041F-4916-4295-B11E-BFCDA7D1C8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85800" cy="695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Рисунок 3">
            <a:extLst>
              <a:ext uri="{FF2B5EF4-FFF2-40B4-BE49-F238E27FC236}">
                <a16:creationId xmlns:a16="http://schemas.microsoft.com/office/drawing/2014/main" id="{D4595B5E-83D2-43AF-80ED-A63AF4D576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550" t="26842" r="17807" b="27721"/>
          <a:stretch>
            <a:fillRect/>
          </a:stretch>
        </p:blipFill>
        <p:spPr bwMode="auto">
          <a:xfrm>
            <a:off x="0" y="0"/>
            <a:ext cx="742950" cy="542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5" name="Picture 2" descr="https://vim.ru/include/logo_MON.png">
            <a:extLst>
              <a:ext uri="{FF2B5EF4-FFF2-40B4-BE49-F238E27FC236}">
                <a16:creationId xmlns:a16="http://schemas.microsoft.com/office/drawing/2014/main" id="{D33898E3-02BF-4F3C-AC2C-D20EC5F86B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00075" cy="695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235953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Рисунок 4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2397" y="144046"/>
            <a:ext cx="2075742" cy="6713954"/>
          </a:xfrm>
          <a:prstGeom prst="rect">
            <a:avLst/>
          </a:prstGeom>
        </p:spPr>
      </p:pic>
      <p:sp>
        <p:nvSpPr>
          <p:cNvPr id="15" name="Прямоугольник 14"/>
          <p:cNvSpPr/>
          <p:nvPr/>
        </p:nvSpPr>
        <p:spPr>
          <a:xfrm>
            <a:off x="210570" y="197386"/>
            <a:ext cx="10952730" cy="36933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endParaRPr lang="ru-RU" b="1" dirty="0"/>
          </a:p>
        </p:txBody>
      </p:sp>
      <p:pic>
        <p:nvPicPr>
          <p:cNvPr id="19" name="Рисунок 1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681"/>
            <a:ext cx="12192000" cy="981457"/>
          </a:xfrm>
          <a:prstGeom prst="rect">
            <a:avLst/>
          </a:prstGeom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3EC268B9-67A1-415F-AF46-D8922E7DD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6827F-A79C-48A5-9FEC-A2BFF2596D14}" type="slidenum">
              <a:rPr lang="ru-RU" smtClean="0"/>
              <a:pPr/>
              <a:t>6</a:t>
            </a:fld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CD783CC4-0952-4F60-964F-B2A36D5AC786}"/>
              </a:ext>
            </a:extLst>
          </p:cNvPr>
          <p:cNvSpPr/>
          <p:nvPr/>
        </p:nvSpPr>
        <p:spPr>
          <a:xfrm>
            <a:off x="176219" y="1111034"/>
            <a:ext cx="11839559" cy="13542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b="1" dirty="0"/>
              <a:t>На 11 ноября 2026 года на базе ФГБОУ ВО ГУУ запланирована вторая международная научно-практическая конференция по профильной тематике проекта «Обеспечение продовольственной безопасности страны на основе создания программно-аппаратных комплексов и интеллектуальных платформенных цифровых решений в АПК» с привлечением партнёров по проекту, индустриальных партнёров, профильных зарубежных партнёров и зарубежных научных и образовательных организаций.</a:t>
            </a:r>
          </a:p>
          <a:p>
            <a:pPr algn="just">
              <a:spcAft>
                <a:spcPts val="600"/>
              </a:spcAft>
            </a:pPr>
            <a:endParaRPr lang="ru-RU" sz="1600" b="1" dirty="0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54F2E201-4DC3-4CB0-8BAB-702C87E05A4B}"/>
              </a:ext>
            </a:extLst>
          </p:cNvPr>
          <p:cNvSpPr/>
          <p:nvPr/>
        </p:nvSpPr>
        <p:spPr>
          <a:xfrm>
            <a:off x="176219" y="5277399"/>
            <a:ext cx="11839558" cy="15465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050" dirty="0"/>
              <a:t>Конференция направлена на обсуждение вопросов обеспечения продовольственной безопасности через внедрение цифровых и роботизированных технологий в АПК. В фокусе конференции – обсуждение государственной политики, интеллектуальных платформ, больших данных и подготовки кадров для современного сельского хозяйства. Секции: • Государственная политика и экономические механизмы обеспечения продовольственной безопасности. • Цифровые интеллектуальные платформенные решения и большие данные в АПК. • Программно-аппаратные комплексы и роботизированные технологии в АПК. • Кадры для современного АПК.</a:t>
            </a:r>
          </a:p>
          <a:p>
            <a:r>
              <a:rPr lang="ru-RU" sz="1050" dirty="0"/>
              <a:t>Формат участия в конференции – очный с возможностью подключения по видеоконференцсвязи. Количество участников на каждой конференции – составило более 200 человек. Количество залов для проведения мероприятия – 3. Общая вместимость залов – не менее 300 посадочных мест. Залы оснащены мультимедийным оборудованием для демонстрации презентаций в форматах *.</a:t>
            </a:r>
            <a:r>
              <a:rPr lang="ru-RU" sz="1050" dirty="0" err="1"/>
              <a:t>pdf</a:t>
            </a:r>
            <a:r>
              <a:rPr lang="ru-RU" sz="1050" dirty="0"/>
              <a:t> и *.</a:t>
            </a:r>
            <a:r>
              <a:rPr lang="ru-RU" sz="1050" dirty="0" err="1"/>
              <a:t>pptx</a:t>
            </a:r>
            <a:r>
              <a:rPr lang="ru-RU" sz="1050" dirty="0"/>
              <a:t> (в том числе, по видеоконференцсвязи), включающие экраны, акустическую стереосистему, беспроводные микрофоны. </a:t>
            </a:r>
          </a:p>
          <a:p>
            <a:r>
              <a:rPr lang="ru-RU" sz="1050" dirty="0"/>
              <a:t>По результатам конференции будет опубликован сборник тезисов докладов участников конференции в электронном и печатном виде, содержащий оглавление, сведения о конференции, перечень авторов тезисов, тезисы докладов, размещенные в авторской редакции.</a:t>
            </a:r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13C23BC8-CE73-409C-892C-F58AD4B45B7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8199" y="2411550"/>
            <a:ext cx="2167586" cy="1445057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43464E86-F78A-400B-A43C-578289F904E3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2410" y="3952974"/>
            <a:ext cx="1589347" cy="1059643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4D9BC789-1D46-4E4A-8872-8932D538B44E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6447" y="3984907"/>
            <a:ext cx="1541566" cy="1027710"/>
          </a:xfrm>
          <a:prstGeom prst="rect">
            <a:avLst/>
          </a:prstGeom>
        </p:spPr>
      </p:pic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C8D13296-A37C-4E81-9689-702BE77DE1AD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3574" y="2411550"/>
            <a:ext cx="2167586" cy="1445057"/>
          </a:xfrm>
          <a:prstGeom prst="rect">
            <a:avLst/>
          </a:prstGeom>
        </p:spPr>
      </p:pic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01E981D9-D9A8-4EE9-84DC-3659B4513F09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4429" y="3984908"/>
            <a:ext cx="1541566" cy="1027710"/>
          </a:xfrm>
          <a:prstGeom prst="rect">
            <a:avLst/>
          </a:prstGeom>
        </p:spPr>
      </p:pic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5134DAD9-A1E3-4764-9C2E-B03D4E63799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13194" y="2299506"/>
            <a:ext cx="1874978" cy="265517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6468C1C0-333C-4014-93D8-9FC522F7EE4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780157" y="2571620"/>
            <a:ext cx="1906479" cy="2671756"/>
          </a:xfrm>
          <a:prstGeom prst="rect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</p:pic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2FAED314-EDED-4533-B3F6-C9FC08140BA0}"/>
              </a:ext>
            </a:extLst>
          </p:cNvPr>
          <p:cNvSpPr/>
          <p:nvPr/>
        </p:nvSpPr>
        <p:spPr>
          <a:xfrm>
            <a:off x="176220" y="327025"/>
            <a:ext cx="1183955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>
                <a:latin typeface="Verdana" panose="020B0604030504040204" pitchFamily="34" charset="0"/>
                <a:ea typeface="Verdana" panose="020B0604030504040204" pitchFamily="34" charset="0"/>
              </a:rPr>
              <a:t>ОСНОВНЫЕ РЕЗУЛЬТАТЫ ПРОЕКТА на 01.10.2026 (завершение)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0BFCB81-FD3A-4EA1-8527-F9FBAB68059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971" y="2716859"/>
            <a:ext cx="3204564" cy="1834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30783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Рисунок 4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1922" y="135808"/>
            <a:ext cx="2075742" cy="6713954"/>
          </a:xfrm>
          <a:prstGeom prst="rect">
            <a:avLst/>
          </a:prstGeom>
        </p:spPr>
      </p:pic>
      <p:sp>
        <p:nvSpPr>
          <p:cNvPr id="15" name="Прямоугольник 14"/>
          <p:cNvSpPr/>
          <p:nvPr/>
        </p:nvSpPr>
        <p:spPr>
          <a:xfrm>
            <a:off x="210570" y="197386"/>
            <a:ext cx="10952730" cy="36933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endParaRPr lang="ru-RU" b="1" dirty="0"/>
          </a:p>
        </p:txBody>
      </p:sp>
      <p:sp>
        <p:nvSpPr>
          <p:cNvPr id="21" name="TextBox 20"/>
          <p:cNvSpPr txBox="1"/>
          <p:nvPr/>
        </p:nvSpPr>
        <p:spPr>
          <a:xfrm>
            <a:off x="1030098" y="1376010"/>
            <a:ext cx="61391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chemeClr val="accent1">
                    <a:lumMod val="75000"/>
                  </a:schemeClr>
                </a:solidFill>
              </a:rPr>
              <a:t>1. Доля аспирантов и молодых ученых (до 39 лет) в общей численности участников проекта:</a:t>
            </a:r>
            <a:endParaRPr lang="ru-RU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051325" y="2133918"/>
            <a:ext cx="59047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chemeClr val="accent1">
                    <a:lumMod val="75000"/>
                  </a:schemeClr>
                </a:solidFill>
              </a:rPr>
              <a:t>2. Количество представленных к защите по результатам исследования диссертаций на соискание ученой степени кандидата наук и на соискание ученой степени доктора наук:</a:t>
            </a:r>
            <a:endParaRPr lang="ru-RU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57642" y="3418984"/>
            <a:ext cx="601971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chemeClr val="accent1">
                    <a:lumMod val="75000"/>
                  </a:schemeClr>
                </a:solidFill>
              </a:rPr>
              <a:t>3. Количество статей по тематике проекта в научных изданиях первого и второго уровней "Белого</a:t>
            </a:r>
          </a:p>
          <a:p>
            <a:r>
              <a:rPr lang="ru-RU" b="1" dirty="0">
                <a:solidFill>
                  <a:schemeClr val="accent1">
                    <a:lumMod val="75000"/>
                  </a:schemeClr>
                </a:solidFill>
              </a:rPr>
              <a:t>списка", авторами которых являются члены коллектива участников проекта:</a:t>
            </a:r>
            <a:endParaRPr lang="ru-RU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1056" name="Picture 32" descr="http://www.inaturalcatering.com/img/icon/corporate.png"/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accent6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179120" y="2388314"/>
            <a:ext cx="768851" cy="768851"/>
          </a:xfrm>
          <a:prstGeom prst="rect">
            <a:avLst/>
          </a:prstGeom>
          <a:noFill/>
        </p:spPr>
      </p:pic>
      <p:pic>
        <p:nvPicPr>
          <p:cNvPr id="1060" name="Picture 36" descr="http://danieloshea.ie/wp-content/uploads/2018/08/138339.png"/>
          <p:cNvPicPr>
            <a:picLocks noChangeAspect="1" noChangeArrowheads="1"/>
          </p:cNvPicPr>
          <p:nvPr/>
        </p:nvPicPr>
        <p:blipFill rotWithShape="1"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18901" r="19445"/>
          <a:stretch/>
        </p:blipFill>
        <p:spPr bwMode="auto">
          <a:xfrm>
            <a:off x="222024" y="1358470"/>
            <a:ext cx="694938" cy="681412"/>
          </a:xfrm>
          <a:prstGeom prst="rect">
            <a:avLst/>
          </a:prstGeom>
          <a:noFill/>
        </p:spPr>
      </p:pic>
      <p:pic>
        <p:nvPicPr>
          <p:cNvPr id="36" name="Рисунок 3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681"/>
            <a:ext cx="12192000" cy="981457"/>
          </a:xfrm>
          <a:prstGeom prst="rect">
            <a:avLst/>
          </a:prstGeom>
        </p:spPr>
      </p:pic>
      <p:sp>
        <p:nvSpPr>
          <p:cNvPr id="37" name="Прямоугольник 36"/>
          <p:cNvSpPr/>
          <p:nvPr/>
        </p:nvSpPr>
        <p:spPr>
          <a:xfrm>
            <a:off x="150768" y="255170"/>
            <a:ext cx="10388634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b="1" dirty="0">
                <a:latin typeface="Verdana" panose="020B0604030504040204" pitchFamily="34" charset="0"/>
                <a:ea typeface="Verdana" panose="020B0604030504040204" pitchFamily="34" charset="0"/>
              </a:rPr>
              <a:t>ЗНАЧЕНИЯ ОСНОВНЫХ ХАРАКТЕРИСТИК ПРЕДОСТАВЛЕНИЯ СУБСИДИИ</a:t>
            </a:r>
          </a:p>
        </p:txBody>
      </p:sp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058C82FE-9650-43CE-A093-F1B9121A279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9972" y="284144"/>
            <a:ext cx="421670" cy="422530"/>
          </a:xfrm>
          <a:prstGeom prst="rect">
            <a:avLst/>
          </a:prstGeom>
        </p:spPr>
      </p:pic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E4827AC1-AD9F-4CA1-B387-DE83A98875EC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50768" y="3623004"/>
            <a:ext cx="900557" cy="753866"/>
          </a:xfrm>
          <a:prstGeom prst="rect">
            <a:avLst/>
          </a:prstGeom>
        </p:spPr>
      </p:pic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9E33E291-B1AB-415F-8268-862B61E1921C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024" y="4821503"/>
            <a:ext cx="733701" cy="733701"/>
          </a:xfrm>
          <a:prstGeom prst="rect">
            <a:avLst/>
          </a:prstGeom>
        </p:spPr>
      </p:pic>
      <p:cxnSp>
        <p:nvCxnSpPr>
          <p:cNvPr id="35" name="Прямая соединительная линия 34"/>
          <p:cNvCxnSpPr/>
          <p:nvPr/>
        </p:nvCxnSpPr>
        <p:spPr>
          <a:xfrm>
            <a:off x="7169268" y="986138"/>
            <a:ext cx="0" cy="5871862"/>
          </a:xfrm>
          <a:prstGeom prst="line">
            <a:avLst/>
          </a:prstGeom>
          <a:ln w="25400">
            <a:solidFill>
              <a:schemeClr val="tx1">
                <a:lumMod val="65000"/>
                <a:lumOff val="35000"/>
              </a:schemeClr>
            </a:solidFill>
            <a:prstDash val="dash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9" name="Прямая соединительная линия 38"/>
          <p:cNvCxnSpPr/>
          <p:nvPr/>
        </p:nvCxnSpPr>
        <p:spPr>
          <a:xfrm>
            <a:off x="8725698" y="986138"/>
            <a:ext cx="20247" cy="5871862"/>
          </a:xfrm>
          <a:prstGeom prst="line">
            <a:avLst/>
          </a:prstGeom>
          <a:ln w="25400">
            <a:solidFill>
              <a:schemeClr val="tx1">
                <a:lumMod val="65000"/>
                <a:lumOff val="35000"/>
              </a:schemeClr>
            </a:solidFill>
            <a:prstDash val="dash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0" name="Прямая соединительная линия 39"/>
          <p:cNvCxnSpPr/>
          <p:nvPr/>
        </p:nvCxnSpPr>
        <p:spPr>
          <a:xfrm>
            <a:off x="10285444" y="986138"/>
            <a:ext cx="5869" cy="5871862"/>
          </a:xfrm>
          <a:prstGeom prst="line">
            <a:avLst/>
          </a:prstGeom>
          <a:ln w="25400">
            <a:solidFill>
              <a:schemeClr val="tx1">
                <a:lumMod val="65000"/>
                <a:lumOff val="35000"/>
              </a:schemeClr>
            </a:solidFill>
            <a:prstDash val="dash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1080740" y="4742976"/>
            <a:ext cx="587755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chemeClr val="accent1">
                    <a:lumMod val="75000"/>
                  </a:schemeClr>
                </a:solidFill>
              </a:rPr>
              <a:t>4. Количество заявок на получение охранных документов на результаты интеллектуальной</a:t>
            </a:r>
          </a:p>
          <a:p>
            <a:r>
              <a:rPr lang="ru-RU" b="1" dirty="0">
                <a:solidFill>
                  <a:schemeClr val="accent1">
                    <a:lumMod val="75000"/>
                  </a:schemeClr>
                </a:solidFill>
              </a:rPr>
              <a:t>деятельности, созданные при выполнении проекта </a:t>
            </a:r>
            <a:r>
              <a:rPr lang="ru-RU" b="1" i="1" dirty="0">
                <a:solidFill>
                  <a:schemeClr val="accent1">
                    <a:lumMod val="75000"/>
                  </a:schemeClr>
                </a:solidFill>
              </a:rPr>
              <a:t>(при наличии)</a:t>
            </a:r>
            <a:r>
              <a:rPr lang="ru-RU" b="1" dirty="0">
                <a:solidFill>
                  <a:schemeClr val="accent1">
                    <a:lumMod val="75000"/>
                  </a:schemeClr>
                </a:solidFill>
              </a:rPr>
              <a:t>: </a:t>
            </a:r>
            <a:endParaRPr lang="ru-RU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2" name="Скругленный прямоугольник 41"/>
          <p:cNvSpPr/>
          <p:nvPr/>
        </p:nvSpPr>
        <p:spPr>
          <a:xfrm>
            <a:off x="7564387" y="1647211"/>
            <a:ext cx="824706" cy="267338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ru-RU" sz="1400" dirty="0"/>
              <a:t>45</a:t>
            </a:r>
          </a:p>
        </p:txBody>
      </p:sp>
      <p:sp>
        <p:nvSpPr>
          <p:cNvPr id="45" name="Скругленный прямоугольник 44"/>
          <p:cNvSpPr/>
          <p:nvPr/>
        </p:nvSpPr>
        <p:spPr>
          <a:xfrm>
            <a:off x="10842296" y="1647211"/>
            <a:ext cx="794385" cy="267337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ru-RU" sz="1400" dirty="0"/>
              <a:t> + 10 </a:t>
            </a:r>
          </a:p>
        </p:txBody>
      </p:sp>
      <p:sp>
        <p:nvSpPr>
          <p:cNvPr id="46" name="Скругленный прямоугольник 45"/>
          <p:cNvSpPr/>
          <p:nvPr/>
        </p:nvSpPr>
        <p:spPr>
          <a:xfrm>
            <a:off x="9096534" y="1647211"/>
            <a:ext cx="788673" cy="262887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ru-RU" sz="1400" dirty="0"/>
              <a:t>55</a:t>
            </a:r>
          </a:p>
        </p:txBody>
      </p:sp>
      <p:sp>
        <p:nvSpPr>
          <p:cNvPr id="50" name="Объект 2"/>
          <p:cNvSpPr txBox="1">
            <a:spLocks/>
          </p:cNvSpPr>
          <p:nvPr/>
        </p:nvSpPr>
        <p:spPr>
          <a:xfrm>
            <a:off x="7470134" y="967324"/>
            <a:ext cx="963669" cy="395063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ru-RU" sz="1800" b="1" dirty="0">
                <a:solidFill>
                  <a:schemeClr val="accent5">
                    <a:lumMod val="75000"/>
                  </a:schemeClr>
                </a:solidFill>
                <a:cs typeface="Times New Roman" panose="02020603050405020304" pitchFamily="18" charset="0"/>
              </a:rPr>
              <a:t>ПЛАН на 2026 г</a:t>
            </a:r>
          </a:p>
        </p:txBody>
      </p:sp>
      <p:sp>
        <p:nvSpPr>
          <p:cNvPr id="51" name="Объект 2"/>
          <p:cNvSpPr txBox="1">
            <a:spLocks/>
          </p:cNvSpPr>
          <p:nvPr/>
        </p:nvSpPr>
        <p:spPr>
          <a:xfrm>
            <a:off x="9009037" y="963614"/>
            <a:ext cx="963669" cy="395063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ru-RU" sz="1800" b="1" dirty="0">
                <a:solidFill>
                  <a:schemeClr val="accent6">
                    <a:lumMod val="75000"/>
                  </a:schemeClr>
                </a:solidFill>
                <a:cs typeface="Times New Roman" panose="02020603050405020304" pitchFamily="18" charset="0"/>
              </a:rPr>
              <a:t>ФАКТ на </a:t>
            </a:r>
          </a:p>
          <a:p>
            <a:pPr>
              <a:spcBef>
                <a:spcPts val="0"/>
              </a:spcBef>
            </a:pPr>
            <a:r>
              <a:rPr lang="ru-RU" sz="1800" b="1" dirty="0">
                <a:solidFill>
                  <a:schemeClr val="accent6">
                    <a:lumMod val="75000"/>
                  </a:schemeClr>
                </a:solidFill>
                <a:cs typeface="Times New Roman" panose="02020603050405020304" pitchFamily="18" charset="0"/>
              </a:rPr>
              <a:t>01.10.2026</a:t>
            </a:r>
          </a:p>
        </p:txBody>
      </p:sp>
      <p:sp>
        <p:nvSpPr>
          <p:cNvPr id="52" name="Объект 2"/>
          <p:cNvSpPr txBox="1">
            <a:spLocks/>
          </p:cNvSpPr>
          <p:nvPr/>
        </p:nvSpPr>
        <p:spPr>
          <a:xfrm>
            <a:off x="10419983" y="963614"/>
            <a:ext cx="1639011" cy="3950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ru-RU" sz="1800" b="1" dirty="0">
                <a:solidFill>
                  <a:srgbClr val="44378F"/>
                </a:solidFill>
                <a:cs typeface="Times New Roman" panose="02020603050405020304" pitchFamily="18" charset="0"/>
              </a:rPr>
              <a:t>ОТКЛОНЕНИЕ</a:t>
            </a:r>
          </a:p>
        </p:txBody>
      </p:sp>
      <p:sp>
        <p:nvSpPr>
          <p:cNvPr id="53" name="Прямоугольник 52"/>
          <p:cNvSpPr/>
          <p:nvPr/>
        </p:nvSpPr>
        <p:spPr>
          <a:xfrm>
            <a:off x="1080740" y="1288184"/>
            <a:ext cx="10973715" cy="70286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50000"/>
                </a:schemeClr>
              </a:gs>
              <a:gs pos="48000">
                <a:schemeClr val="accent5">
                  <a:lumMod val="75000"/>
                </a:schemeClr>
              </a:gs>
              <a:gs pos="100000">
                <a:schemeClr val="accent5"/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600"/>
          </a:p>
        </p:txBody>
      </p:sp>
      <p:sp>
        <p:nvSpPr>
          <p:cNvPr id="54" name="Скругленный прямоугольник 53"/>
          <p:cNvSpPr/>
          <p:nvPr/>
        </p:nvSpPr>
        <p:spPr>
          <a:xfrm>
            <a:off x="7564387" y="2516455"/>
            <a:ext cx="824706" cy="267338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ru-RU" sz="1400" dirty="0"/>
              <a:t>5</a:t>
            </a:r>
          </a:p>
        </p:txBody>
      </p:sp>
      <p:sp>
        <p:nvSpPr>
          <p:cNvPr id="57" name="Скругленный прямоугольник 56"/>
          <p:cNvSpPr/>
          <p:nvPr/>
        </p:nvSpPr>
        <p:spPr>
          <a:xfrm>
            <a:off x="7564387" y="5054684"/>
            <a:ext cx="824706" cy="267338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ru-RU" sz="1400" dirty="0"/>
              <a:t>0</a:t>
            </a:r>
          </a:p>
        </p:txBody>
      </p:sp>
      <p:sp>
        <p:nvSpPr>
          <p:cNvPr id="61" name="Скругленный прямоугольник 60"/>
          <p:cNvSpPr/>
          <p:nvPr/>
        </p:nvSpPr>
        <p:spPr>
          <a:xfrm>
            <a:off x="7564387" y="3918102"/>
            <a:ext cx="824706" cy="267338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ru-RU" sz="1400" dirty="0"/>
              <a:t>17</a:t>
            </a:r>
          </a:p>
        </p:txBody>
      </p:sp>
      <p:sp>
        <p:nvSpPr>
          <p:cNvPr id="63" name="Скругленный прямоугольник 62"/>
          <p:cNvSpPr/>
          <p:nvPr/>
        </p:nvSpPr>
        <p:spPr>
          <a:xfrm>
            <a:off x="9096533" y="2516455"/>
            <a:ext cx="788673" cy="262887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ru-RU" sz="1400" dirty="0"/>
              <a:t>1</a:t>
            </a:r>
          </a:p>
        </p:txBody>
      </p:sp>
      <p:sp>
        <p:nvSpPr>
          <p:cNvPr id="64" name="Скругленный прямоугольник 63"/>
          <p:cNvSpPr/>
          <p:nvPr/>
        </p:nvSpPr>
        <p:spPr>
          <a:xfrm>
            <a:off x="9096533" y="5054684"/>
            <a:ext cx="788673" cy="262887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ru-RU" sz="1400" dirty="0"/>
              <a:t>0</a:t>
            </a:r>
          </a:p>
        </p:txBody>
      </p:sp>
      <p:sp>
        <p:nvSpPr>
          <p:cNvPr id="70" name="Скругленный прямоугольник 69"/>
          <p:cNvSpPr/>
          <p:nvPr/>
        </p:nvSpPr>
        <p:spPr>
          <a:xfrm>
            <a:off x="9096533" y="3918102"/>
            <a:ext cx="788673" cy="262887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ru-RU" sz="1400" dirty="0"/>
              <a:t>7</a:t>
            </a:r>
          </a:p>
        </p:txBody>
      </p:sp>
      <p:sp>
        <p:nvSpPr>
          <p:cNvPr id="72" name="Скругленный прямоугольник 71"/>
          <p:cNvSpPr/>
          <p:nvPr/>
        </p:nvSpPr>
        <p:spPr>
          <a:xfrm>
            <a:off x="10862905" y="2512005"/>
            <a:ext cx="794385" cy="267337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ru-RU" sz="1400" dirty="0"/>
              <a:t>4  </a:t>
            </a:r>
          </a:p>
        </p:txBody>
      </p:sp>
      <p:sp>
        <p:nvSpPr>
          <p:cNvPr id="73" name="Скругленный прямоугольник 72"/>
          <p:cNvSpPr/>
          <p:nvPr/>
        </p:nvSpPr>
        <p:spPr>
          <a:xfrm>
            <a:off x="10853990" y="3918102"/>
            <a:ext cx="794385" cy="267337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ru-RU" sz="1400" dirty="0"/>
              <a:t>10  </a:t>
            </a:r>
          </a:p>
        </p:txBody>
      </p:sp>
      <p:sp>
        <p:nvSpPr>
          <p:cNvPr id="74" name="Скругленный прямоугольник 73"/>
          <p:cNvSpPr/>
          <p:nvPr/>
        </p:nvSpPr>
        <p:spPr>
          <a:xfrm>
            <a:off x="10847125" y="5050234"/>
            <a:ext cx="794385" cy="267337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ru-RU" sz="1400" dirty="0"/>
              <a:t>0  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72241395-0C21-C613-8CA8-FEBE9556A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6827F-A79C-48A5-9FEC-A2BFF2596D14}" type="slidenum">
              <a:rPr lang="ru-RU" smtClean="0"/>
              <a:pPr/>
              <a:t>7</a:t>
            </a:fld>
            <a:endParaRPr lang="ru-RU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6C9CF6DE-3760-44E9-AC5B-0140AE39D97C}"/>
              </a:ext>
            </a:extLst>
          </p:cNvPr>
          <p:cNvSpPr/>
          <p:nvPr/>
        </p:nvSpPr>
        <p:spPr>
          <a:xfrm>
            <a:off x="198173" y="6095550"/>
            <a:ext cx="6096000" cy="58477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600" dirty="0"/>
              <a:t>Риски неисполнения обязательств отсутствуют.</a:t>
            </a:r>
          </a:p>
          <a:p>
            <a:r>
              <a:rPr lang="ru-RU" sz="1600" dirty="0"/>
              <a:t>Вероятность выполнения всех показателей к концу года – 100%.</a:t>
            </a:r>
          </a:p>
        </p:txBody>
      </p:sp>
    </p:spTree>
    <p:extLst>
      <p:ext uri="{BB962C8B-B14F-4D97-AF65-F5344CB8AC3E}">
        <p14:creationId xmlns:p14="http://schemas.microsoft.com/office/powerpoint/2010/main" val="34396517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Рисунок 4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6258" y="114578"/>
            <a:ext cx="2075742" cy="6713954"/>
          </a:xfrm>
          <a:prstGeom prst="rect">
            <a:avLst/>
          </a:prstGeom>
        </p:spPr>
      </p:pic>
      <p:sp>
        <p:nvSpPr>
          <p:cNvPr id="15" name="Прямоугольник 14"/>
          <p:cNvSpPr/>
          <p:nvPr/>
        </p:nvSpPr>
        <p:spPr>
          <a:xfrm>
            <a:off x="210570" y="197386"/>
            <a:ext cx="10952730" cy="36933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endParaRPr lang="ru-RU" b="1" dirty="0"/>
          </a:p>
        </p:txBody>
      </p:sp>
      <p:sp>
        <p:nvSpPr>
          <p:cNvPr id="21" name="TextBox 20"/>
          <p:cNvSpPr txBox="1"/>
          <p:nvPr/>
        </p:nvSpPr>
        <p:spPr>
          <a:xfrm>
            <a:off x="191039" y="1082629"/>
            <a:ext cx="61391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>
                <a:solidFill>
                  <a:schemeClr val="accent6">
                    <a:lumMod val="75000"/>
                  </a:schemeClr>
                </a:solidFill>
              </a:rPr>
              <a:t>1. Поступило средств, всего:</a:t>
            </a:r>
            <a:endParaRPr lang="ru-RU" sz="16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91039" y="1492064"/>
            <a:ext cx="59047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>
                <a:solidFill>
                  <a:schemeClr val="accent6">
                    <a:lumMod val="75000"/>
                  </a:schemeClr>
                </a:solidFill>
              </a:rPr>
              <a:t>2. Выплаты по расходам, всего:</a:t>
            </a:r>
            <a:endParaRPr lang="ru-RU" sz="16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62870" y="1807906"/>
            <a:ext cx="60197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>
                <a:solidFill>
                  <a:schemeClr val="accent6">
                    <a:lumMod val="75000"/>
                  </a:schemeClr>
                </a:solidFill>
              </a:rPr>
              <a:t>в том числе:</a:t>
            </a:r>
          </a:p>
          <a:p>
            <a:r>
              <a:rPr lang="ru-RU" sz="1600" b="1" dirty="0">
                <a:solidFill>
                  <a:schemeClr val="accent6">
                    <a:lumMod val="75000"/>
                  </a:schemeClr>
                </a:solidFill>
              </a:rPr>
              <a:t>выплаты заработной платы персоналу, всего</a:t>
            </a:r>
            <a:endParaRPr lang="ru-RU" sz="1600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36" name="Рисунок 3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681"/>
            <a:ext cx="12192000" cy="1073114"/>
          </a:xfrm>
          <a:prstGeom prst="rect">
            <a:avLst/>
          </a:prstGeom>
        </p:spPr>
      </p:pic>
      <p:sp>
        <p:nvSpPr>
          <p:cNvPr id="37" name="Прямоугольник 36"/>
          <p:cNvSpPr/>
          <p:nvPr/>
        </p:nvSpPr>
        <p:spPr>
          <a:xfrm>
            <a:off x="150768" y="255170"/>
            <a:ext cx="1038863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>
                <a:latin typeface="Verdana" panose="020B0604030504040204" pitchFamily="34" charset="0"/>
                <a:ea typeface="Verdana" panose="020B0604030504040204" pitchFamily="34" charset="0"/>
              </a:rPr>
              <a:t>ФИНАНСОВЫЕ ПОКАЗАТЕЛИ ПРОЕКТА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2870" y="2776414"/>
            <a:ext cx="61343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>
                <a:solidFill>
                  <a:schemeClr val="accent6">
                    <a:lumMod val="75000"/>
                  </a:schemeClr>
                </a:solidFill>
              </a:rPr>
              <a:t>иные выплаты физическим лицам</a:t>
            </a:r>
            <a:endParaRPr lang="ru-RU" sz="1600" dirty="0">
              <a:solidFill>
                <a:schemeClr val="accent6">
                  <a:lumMod val="75000"/>
                </a:schemeClr>
              </a:solidFill>
            </a:endParaRPr>
          </a:p>
        </p:txBody>
      </p:sp>
      <p:cxnSp>
        <p:nvCxnSpPr>
          <p:cNvPr id="35" name="Прямая соединительная линия 34"/>
          <p:cNvCxnSpPr/>
          <p:nvPr/>
        </p:nvCxnSpPr>
        <p:spPr>
          <a:xfrm>
            <a:off x="7169268" y="986138"/>
            <a:ext cx="0" cy="5871862"/>
          </a:xfrm>
          <a:prstGeom prst="line">
            <a:avLst/>
          </a:prstGeom>
          <a:ln w="25400">
            <a:solidFill>
              <a:schemeClr val="tx1">
                <a:lumMod val="65000"/>
                <a:lumOff val="35000"/>
              </a:schemeClr>
            </a:solidFill>
            <a:prstDash val="dash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9" name="Прямая соединительная линия 38"/>
          <p:cNvCxnSpPr/>
          <p:nvPr/>
        </p:nvCxnSpPr>
        <p:spPr>
          <a:xfrm>
            <a:off x="8734983" y="983422"/>
            <a:ext cx="20247" cy="5871862"/>
          </a:xfrm>
          <a:prstGeom prst="line">
            <a:avLst/>
          </a:prstGeom>
          <a:ln w="25400">
            <a:solidFill>
              <a:schemeClr val="tx1">
                <a:lumMod val="65000"/>
                <a:lumOff val="35000"/>
              </a:schemeClr>
            </a:solidFill>
            <a:prstDash val="dash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0" name="Прямая соединительная линия 39"/>
          <p:cNvCxnSpPr/>
          <p:nvPr/>
        </p:nvCxnSpPr>
        <p:spPr>
          <a:xfrm>
            <a:off x="10336241" y="991415"/>
            <a:ext cx="5869" cy="5871862"/>
          </a:xfrm>
          <a:prstGeom prst="line">
            <a:avLst/>
          </a:prstGeom>
          <a:ln w="25400">
            <a:solidFill>
              <a:schemeClr val="tx1">
                <a:lumMod val="65000"/>
                <a:lumOff val="35000"/>
              </a:schemeClr>
            </a:solidFill>
            <a:prstDash val="dash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462870" y="2392237"/>
            <a:ext cx="58775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>
                <a:solidFill>
                  <a:schemeClr val="accent6">
                    <a:lumMod val="75000"/>
                  </a:schemeClr>
                </a:solidFill>
              </a:rPr>
              <a:t>взносы на обязательное социальное страхование</a:t>
            </a:r>
            <a:endParaRPr lang="ru-RU" sz="16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2" name="Скругленный прямоугольник 41"/>
          <p:cNvSpPr/>
          <p:nvPr/>
        </p:nvSpPr>
        <p:spPr>
          <a:xfrm>
            <a:off x="7557922" y="1143491"/>
            <a:ext cx="824706" cy="267338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ru-RU" sz="700" dirty="0"/>
              <a:t>100 000 000,00</a:t>
            </a:r>
          </a:p>
        </p:txBody>
      </p:sp>
      <p:sp>
        <p:nvSpPr>
          <p:cNvPr id="45" name="Скругленный прямоугольник 44"/>
          <p:cNvSpPr/>
          <p:nvPr/>
        </p:nvSpPr>
        <p:spPr>
          <a:xfrm>
            <a:off x="10828890" y="1125503"/>
            <a:ext cx="794385" cy="267337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ru-RU" sz="700" dirty="0"/>
              <a:t>0,00 </a:t>
            </a:r>
          </a:p>
        </p:txBody>
      </p:sp>
      <p:sp>
        <p:nvSpPr>
          <p:cNvPr id="46" name="Скругленный прямоугольник 45"/>
          <p:cNvSpPr/>
          <p:nvPr/>
        </p:nvSpPr>
        <p:spPr>
          <a:xfrm>
            <a:off x="9074241" y="1135127"/>
            <a:ext cx="788673" cy="262887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ru-RU" sz="700" dirty="0"/>
              <a:t>100 000 000,00</a:t>
            </a:r>
          </a:p>
        </p:txBody>
      </p:sp>
      <p:sp>
        <p:nvSpPr>
          <p:cNvPr id="50" name="Объект 2"/>
          <p:cNvSpPr txBox="1">
            <a:spLocks/>
          </p:cNvSpPr>
          <p:nvPr/>
        </p:nvSpPr>
        <p:spPr>
          <a:xfrm>
            <a:off x="7167894" y="666133"/>
            <a:ext cx="1474603" cy="39506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ru-RU" sz="1800" b="1" dirty="0">
                <a:solidFill>
                  <a:schemeClr val="accent5">
                    <a:lumMod val="75000"/>
                  </a:schemeClr>
                </a:solidFill>
                <a:cs typeface="Times New Roman" panose="02020603050405020304" pitchFamily="18" charset="0"/>
              </a:rPr>
              <a:t>ПЛАН за 2026 г.</a:t>
            </a:r>
          </a:p>
        </p:txBody>
      </p:sp>
      <p:sp>
        <p:nvSpPr>
          <p:cNvPr id="51" name="Объект 2"/>
          <p:cNvSpPr txBox="1">
            <a:spLocks/>
          </p:cNvSpPr>
          <p:nvPr/>
        </p:nvSpPr>
        <p:spPr>
          <a:xfrm>
            <a:off x="8757763" y="628604"/>
            <a:ext cx="1514009" cy="395063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ru-RU" sz="1800" b="1" dirty="0">
                <a:solidFill>
                  <a:schemeClr val="accent6">
                    <a:lumMod val="75000"/>
                  </a:schemeClr>
                </a:solidFill>
                <a:cs typeface="Times New Roman" panose="02020603050405020304" pitchFamily="18" charset="0"/>
              </a:rPr>
              <a:t>ФАКТ  на 01.10.2026 г.</a:t>
            </a:r>
          </a:p>
        </p:txBody>
      </p:sp>
      <p:sp>
        <p:nvSpPr>
          <p:cNvPr id="52" name="Объект 2"/>
          <p:cNvSpPr txBox="1">
            <a:spLocks/>
          </p:cNvSpPr>
          <p:nvPr/>
        </p:nvSpPr>
        <p:spPr>
          <a:xfrm>
            <a:off x="10406578" y="617147"/>
            <a:ext cx="1639011" cy="3950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ru-RU" sz="1800" b="1" dirty="0">
                <a:solidFill>
                  <a:srgbClr val="44378F"/>
                </a:solidFill>
                <a:cs typeface="Times New Roman" panose="02020603050405020304" pitchFamily="18" charset="0"/>
              </a:rPr>
              <a:t>ОТКЛОНЕНИЕ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2870" y="3157713"/>
            <a:ext cx="61343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>
                <a:solidFill>
                  <a:schemeClr val="accent6">
                    <a:lumMod val="75000"/>
                  </a:schemeClr>
                </a:solidFill>
              </a:rPr>
              <a:t>закупка работ и услуг</a:t>
            </a:r>
            <a:endParaRPr lang="ru-RU" sz="16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52655" y="3543945"/>
            <a:ext cx="61343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>
                <a:solidFill>
                  <a:schemeClr val="accent6">
                    <a:lumMod val="75000"/>
                  </a:schemeClr>
                </a:solidFill>
              </a:rPr>
              <a:t>закупка непроизводственных активов, нематериальных активов, материальных запасов и основных средств, всего</a:t>
            </a:r>
            <a:endParaRPr lang="ru-RU" sz="16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52655" y="4185653"/>
            <a:ext cx="61343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>
                <a:solidFill>
                  <a:schemeClr val="accent6">
                    <a:lumMod val="75000"/>
                  </a:schemeClr>
                </a:solidFill>
              </a:rPr>
              <a:t>уплата налогов, сборов и иных платежей в бюджеты бюджетной системы Российской Федерации, всего</a:t>
            </a:r>
            <a:endParaRPr lang="ru-RU" sz="16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62870" y="5455360"/>
            <a:ext cx="61343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>
                <a:solidFill>
                  <a:schemeClr val="accent6">
                    <a:lumMod val="75000"/>
                  </a:schemeClr>
                </a:solidFill>
              </a:rPr>
              <a:t>иные выплаты, всего</a:t>
            </a:r>
            <a:endParaRPr lang="ru-RU" sz="16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21355" y="5889271"/>
            <a:ext cx="61343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>
                <a:solidFill>
                  <a:schemeClr val="accent6">
                    <a:lumMod val="75000"/>
                  </a:schemeClr>
                </a:solidFill>
              </a:rPr>
              <a:t>3. Возвращено в федеральный бюджет, всего</a:t>
            </a:r>
            <a:endParaRPr lang="ru-RU" sz="16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21355" y="6337759"/>
            <a:ext cx="61343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>
                <a:solidFill>
                  <a:schemeClr val="accent6">
                    <a:lumMod val="75000"/>
                  </a:schemeClr>
                </a:solidFill>
              </a:rPr>
              <a:t>4. Остаток Субсидии на конец отчетного периода, всего</a:t>
            </a:r>
            <a:endParaRPr lang="ru-RU" sz="16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8" name="Прямоугольник 37"/>
          <p:cNvSpPr/>
          <p:nvPr/>
        </p:nvSpPr>
        <p:spPr>
          <a:xfrm>
            <a:off x="150768" y="966823"/>
            <a:ext cx="11802335" cy="45719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50000"/>
                </a:schemeClr>
              </a:gs>
              <a:gs pos="48000">
                <a:schemeClr val="accent5">
                  <a:lumMod val="75000"/>
                </a:schemeClr>
              </a:gs>
              <a:gs pos="100000">
                <a:schemeClr val="accent5"/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600"/>
          </a:p>
        </p:txBody>
      </p:sp>
      <p:sp>
        <p:nvSpPr>
          <p:cNvPr id="44" name="TextBox 43"/>
          <p:cNvSpPr txBox="1"/>
          <p:nvPr/>
        </p:nvSpPr>
        <p:spPr>
          <a:xfrm>
            <a:off x="462869" y="4805536"/>
            <a:ext cx="65911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>
                <a:solidFill>
                  <a:schemeClr val="accent6">
                    <a:lumMod val="75000"/>
                  </a:schemeClr>
                </a:solidFill>
              </a:rPr>
              <a:t>предоставление средств иным юридическим лицам, индивидуальным предпринимателям, физическим лицам в форме гранта</a:t>
            </a:r>
            <a:endParaRPr lang="ru-RU" sz="16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7" name="Скругленный прямоугольник 46"/>
          <p:cNvSpPr/>
          <p:nvPr/>
        </p:nvSpPr>
        <p:spPr>
          <a:xfrm>
            <a:off x="7560051" y="5480620"/>
            <a:ext cx="824706" cy="267338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ru-RU" sz="700" dirty="0"/>
              <a:t>0,00</a:t>
            </a:r>
          </a:p>
        </p:txBody>
      </p:sp>
      <p:sp>
        <p:nvSpPr>
          <p:cNvPr id="48" name="Скругленный прямоугольник 47"/>
          <p:cNvSpPr/>
          <p:nvPr/>
        </p:nvSpPr>
        <p:spPr>
          <a:xfrm>
            <a:off x="7551642" y="5950364"/>
            <a:ext cx="824706" cy="267338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ru-RU" sz="700" dirty="0"/>
              <a:t>5 450 927,71</a:t>
            </a:r>
          </a:p>
        </p:txBody>
      </p:sp>
      <p:sp>
        <p:nvSpPr>
          <p:cNvPr id="49" name="Скругленный прямоугольник 48"/>
          <p:cNvSpPr/>
          <p:nvPr/>
        </p:nvSpPr>
        <p:spPr>
          <a:xfrm>
            <a:off x="7560051" y="6420108"/>
            <a:ext cx="824706" cy="267338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ru-RU" sz="700" dirty="0"/>
              <a:t>0,00</a:t>
            </a:r>
          </a:p>
        </p:txBody>
      </p:sp>
      <p:sp>
        <p:nvSpPr>
          <p:cNvPr id="53" name="Скругленный прямоугольник 52"/>
          <p:cNvSpPr/>
          <p:nvPr/>
        </p:nvSpPr>
        <p:spPr>
          <a:xfrm>
            <a:off x="7556009" y="3802432"/>
            <a:ext cx="824706" cy="267338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ru-RU" sz="700" dirty="0"/>
              <a:t>12 000 000,00</a:t>
            </a:r>
          </a:p>
        </p:txBody>
      </p:sp>
      <p:sp>
        <p:nvSpPr>
          <p:cNvPr id="54" name="Скругленный прямоугольник 53"/>
          <p:cNvSpPr/>
          <p:nvPr/>
        </p:nvSpPr>
        <p:spPr>
          <a:xfrm>
            <a:off x="7560051" y="4365134"/>
            <a:ext cx="824706" cy="267338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ru-RU" sz="700" dirty="0"/>
              <a:t>0,00</a:t>
            </a:r>
          </a:p>
        </p:txBody>
      </p:sp>
      <p:sp>
        <p:nvSpPr>
          <p:cNvPr id="55" name="Скругленный прямоугольник 54"/>
          <p:cNvSpPr/>
          <p:nvPr/>
        </p:nvSpPr>
        <p:spPr>
          <a:xfrm>
            <a:off x="7560051" y="4932281"/>
            <a:ext cx="824706" cy="267338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ru-RU" sz="700" dirty="0"/>
              <a:t>0,00</a:t>
            </a:r>
          </a:p>
        </p:txBody>
      </p:sp>
      <p:sp>
        <p:nvSpPr>
          <p:cNvPr id="56" name="Скругленный прямоугольник 55"/>
          <p:cNvSpPr/>
          <p:nvPr/>
        </p:nvSpPr>
        <p:spPr>
          <a:xfrm>
            <a:off x="7562336" y="2389336"/>
            <a:ext cx="824706" cy="267338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ru-RU" sz="700" dirty="0"/>
              <a:t>6 169 841,27</a:t>
            </a:r>
          </a:p>
        </p:txBody>
      </p:sp>
      <p:sp>
        <p:nvSpPr>
          <p:cNvPr id="57" name="Скругленный прямоугольник 56"/>
          <p:cNvSpPr/>
          <p:nvPr/>
        </p:nvSpPr>
        <p:spPr>
          <a:xfrm>
            <a:off x="7553372" y="2781830"/>
            <a:ext cx="824706" cy="267338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ru-RU" sz="700" dirty="0"/>
              <a:t>1 600 000,00</a:t>
            </a:r>
          </a:p>
        </p:txBody>
      </p:sp>
      <p:sp>
        <p:nvSpPr>
          <p:cNvPr id="58" name="Скругленный прямоугольник 57"/>
          <p:cNvSpPr/>
          <p:nvPr/>
        </p:nvSpPr>
        <p:spPr>
          <a:xfrm>
            <a:off x="7553372" y="3244118"/>
            <a:ext cx="824706" cy="267338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ru-RU" sz="700" dirty="0"/>
              <a:t>56 500 000,00</a:t>
            </a:r>
          </a:p>
        </p:txBody>
      </p:sp>
      <p:sp>
        <p:nvSpPr>
          <p:cNvPr id="59" name="Скругленный прямоугольник 58"/>
          <p:cNvSpPr/>
          <p:nvPr/>
        </p:nvSpPr>
        <p:spPr>
          <a:xfrm>
            <a:off x="7553372" y="1543029"/>
            <a:ext cx="824706" cy="267338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ru-RU" sz="700" dirty="0"/>
              <a:t>100 000 000,00</a:t>
            </a:r>
          </a:p>
        </p:txBody>
      </p:sp>
      <p:sp>
        <p:nvSpPr>
          <p:cNvPr id="60" name="Скругленный прямоугольник 59"/>
          <p:cNvSpPr/>
          <p:nvPr/>
        </p:nvSpPr>
        <p:spPr>
          <a:xfrm>
            <a:off x="7562336" y="1966624"/>
            <a:ext cx="824706" cy="267338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ru-RU" sz="700" dirty="0"/>
              <a:t>23 730 158,73</a:t>
            </a:r>
          </a:p>
        </p:txBody>
      </p:sp>
      <p:sp>
        <p:nvSpPr>
          <p:cNvPr id="61" name="Скругленный прямоугольник 60"/>
          <p:cNvSpPr/>
          <p:nvPr/>
        </p:nvSpPr>
        <p:spPr>
          <a:xfrm>
            <a:off x="9078791" y="1553268"/>
            <a:ext cx="788673" cy="262887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ru-RU" sz="700" dirty="0"/>
              <a:t>98 387 051,62</a:t>
            </a:r>
          </a:p>
        </p:txBody>
      </p:sp>
      <p:sp>
        <p:nvSpPr>
          <p:cNvPr id="62" name="Скругленный прямоугольник 61"/>
          <p:cNvSpPr/>
          <p:nvPr/>
        </p:nvSpPr>
        <p:spPr>
          <a:xfrm>
            <a:off x="9078789" y="4372456"/>
            <a:ext cx="788673" cy="262887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ru-RU" sz="700" dirty="0"/>
              <a:t>0,00</a:t>
            </a:r>
          </a:p>
        </p:txBody>
      </p:sp>
      <p:sp>
        <p:nvSpPr>
          <p:cNvPr id="63" name="Скругленный прямоугольник 62"/>
          <p:cNvSpPr/>
          <p:nvPr/>
        </p:nvSpPr>
        <p:spPr>
          <a:xfrm>
            <a:off x="9078789" y="4944380"/>
            <a:ext cx="788673" cy="262887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ru-RU" sz="700" dirty="0"/>
              <a:t>0,00</a:t>
            </a:r>
          </a:p>
        </p:txBody>
      </p:sp>
      <p:sp>
        <p:nvSpPr>
          <p:cNvPr id="64" name="Скругленный прямоугольник 63"/>
          <p:cNvSpPr/>
          <p:nvPr/>
        </p:nvSpPr>
        <p:spPr>
          <a:xfrm>
            <a:off x="9067903" y="5485071"/>
            <a:ext cx="788673" cy="262887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ru-RU" sz="700" dirty="0"/>
              <a:t>0,00</a:t>
            </a:r>
          </a:p>
        </p:txBody>
      </p:sp>
      <p:sp>
        <p:nvSpPr>
          <p:cNvPr id="65" name="Скругленный прямоугольник 64"/>
          <p:cNvSpPr/>
          <p:nvPr/>
        </p:nvSpPr>
        <p:spPr>
          <a:xfrm>
            <a:off x="9078788" y="5964938"/>
            <a:ext cx="788673" cy="262887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ru-RU" sz="700" dirty="0"/>
              <a:t>5 450 927,71</a:t>
            </a:r>
          </a:p>
        </p:txBody>
      </p:sp>
      <p:sp>
        <p:nvSpPr>
          <p:cNvPr id="66" name="Скругленный прямоугольник 65"/>
          <p:cNvSpPr/>
          <p:nvPr/>
        </p:nvSpPr>
        <p:spPr>
          <a:xfrm>
            <a:off x="9075213" y="6424559"/>
            <a:ext cx="788673" cy="262887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ru-RU" sz="700" dirty="0"/>
              <a:t>1 612 948,38</a:t>
            </a:r>
          </a:p>
        </p:txBody>
      </p:sp>
      <p:sp>
        <p:nvSpPr>
          <p:cNvPr id="67" name="Скругленный прямоугольник 66"/>
          <p:cNvSpPr/>
          <p:nvPr/>
        </p:nvSpPr>
        <p:spPr>
          <a:xfrm>
            <a:off x="9078790" y="2778444"/>
            <a:ext cx="788673" cy="262887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ru-RU" sz="700" dirty="0"/>
              <a:t>724 390,53</a:t>
            </a:r>
          </a:p>
        </p:txBody>
      </p:sp>
      <p:sp>
        <p:nvSpPr>
          <p:cNvPr id="68" name="Скругленный прямоугольник 67"/>
          <p:cNvSpPr/>
          <p:nvPr/>
        </p:nvSpPr>
        <p:spPr>
          <a:xfrm>
            <a:off x="9067903" y="2389336"/>
            <a:ext cx="788673" cy="262887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ru-RU" sz="700" dirty="0"/>
              <a:t>6 053 029,24</a:t>
            </a:r>
          </a:p>
        </p:txBody>
      </p:sp>
      <p:sp>
        <p:nvSpPr>
          <p:cNvPr id="69" name="Скругленный прямоугольник 68"/>
          <p:cNvSpPr/>
          <p:nvPr/>
        </p:nvSpPr>
        <p:spPr>
          <a:xfrm>
            <a:off x="9069827" y="1995563"/>
            <a:ext cx="788673" cy="262887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ru-RU" sz="700" dirty="0"/>
              <a:t>23 109 631,85</a:t>
            </a:r>
          </a:p>
        </p:txBody>
      </p:sp>
      <p:sp>
        <p:nvSpPr>
          <p:cNvPr id="71" name="Скругленный прямоугольник 70"/>
          <p:cNvSpPr/>
          <p:nvPr/>
        </p:nvSpPr>
        <p:spPr>
          <a:xfrm>
            <a:off x="9072730" y="3812754"/>
            <a:ext cx="788673" cy="262887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ru-RU" sz="700" dirty="0"/>
              <a:t>12 000 000,00</a:t>
            </a:r>
          </a:p>
        </p:txBody>
      </p:sp>
      <p:sp>
        <p:nvSpPr>
          <p:cNvPr id="72" name="Скругленный прямоугольник 71"/>
          <p:cNvSpPr/>
          <p:nvPr/>
        </p:nvSpPr>
        <p:spPr>
          <a:xfrm>
            <a:off x="9078790" y="3256005"/>
            <a:ext cx="788673" cy="262887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ru-RU" sz="700" dirty="0"/>
              <a:t>56 500 000,00</a:t>
            </a:r>
          </a:p>
        </p:txBody>
      </p:sp>
      <p:sp>
        <p:nvSpPr>
          <p:cNvPr id="73" name="Скругленный прямоугольник 72"/>
          <p:cNvSpPr/>
          <p:nvPr/>
        </p:nvSpPr>
        <p:spPr>
          <a:xfrm>
            <a:off x="10823267" y="1538031"/>
            <a:ext cx="794385" cy="267337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ru-RU" sz="700" dirty="0"/>
              <a:t>1 612 948,38 </a:t>
            </a:r>
          </a:p>
        </p:txBody>
      </p:sp>
      <p:sp>
        <p:nvSpPr>
          <p:cNvPr id="74" name="Скругленный прямоугольник 73"/>
          <p:cNvSpPr/>
          <p:nvPr/>
        </p:nvSpPr>
        <p:spPr>
          <a:xfrm>
            <a:off x="10831600" y="4939930"/>
            <a:ext cx="794385" cy="267337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ru-RU" sz="700" dirty="0"/>
              <a:t>0,00 </a:t>
            </a:r>
          </a:p>
        </p:txBody>
      </p:sp>
      <p:sp>
        <p:nvSpPr>
          <p:cNvPr id="75" name="Скругленный прямоугольник 74"/>
          <p:cNvSpPr/>
          <p:nvPr/>
        </p:nvSpPr>
        <p:spPr>
          <a:xfrm>
            <a:off x="10828889" y="5480620"/>
            <a:ext cx="794385" cy="267337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ru-RU" sz="700" dirty="0"/>
              <a:t>0,00 </a:t>
            </a:r>
          </a:p>
        </p:txBody>
      </p:sp>
      <p:sp>
        <p:nvSpPr>
          <p:cNvPr id="76" name="Скругленный прямоугольник 75"/>
          <p:cNvSpPr/>
          <p:nvPr/>
        </p:nvSpPr>
        <p:spPr>
          <a:xfrm>
            <a:off x="10823267" y="5966812"/>
            <a:ext cx="794385" cy="267337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ru-RU" sz="700" dirty="0"/>
              <a:t>0,00 </a:t>
            </a:r>
          </a:p>
        </p:txBody>
      </p:sp>
      <p:sp>
        <p:nvSpPr>
          <p:cNvPr id="77" name="Скругленный прямоугольник 76"/>
          <p:cNvSpPr/>
          <p:nvPr/>
        </p:nvSpPr>
        <p:spPr>
          <a:xfrm>
            <a:off x="10823266" y="6408976"/>
            <a:ext cx="794385" cy="267337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ru-RU" sz="700" dirty="0"/>
              <a:t>1 612 948,38 </a:t>
            </a:r>
          </a:p>
        </p:txBody>
      </p:sp>
      <p:sp>
        <p:nvSpPr>
          <p:cNvPr id="78" name="Скругленный прямоугольник 77"/>
          <p:cNvSpPr/>
          <p:nvPr/>
        </p:nvSpPr>
        <p:spPr>
          <a:xfrm>
            <a:off x="10823269" y="3244119"/>
            <a:ext cx="794385" cy="267337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ru-RU" sz="700" dirty="0"/>
              <a:t>0,00 </a:t>
            </a:r>
          </a:p>
        </p:txBody>
      </p:sp>
      <p:sp>
        <p:nvSpPr>
          <p:cNvPr id="79" name="Скругленный прямоугольник 78"/>
          <p:cNvSpPr/>
          <p:nvPr/>
        </p:nvSpPr>
        <p:spPr>
          <a:xfrm>
            <a:off x="10823268" y="3802432"/>
            <a:ext cx="794385" cy="267337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ru-RU" sz="700" dirty="0"/>
              <a:t>0,00 </a:t>
            </a:r>
          </a:p>
        </p:txBody>
      </p:sp>
      <p:sp>
        <p:nvSpPr>
          <p:cNvPr id="80" name="Скругленный прямоугольник 79"/>
          <p:cNvSpPr/>
          <p:nvPr/>
        </p:nvSpPr>
        <p:spPr>
          <a:xfrm>
            <a:off x="10831600" y="4375733"/>
            <a:ext cx="794385" cy="267337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ru-RU" sz="700" dirty="0"/>
              <a:t>0,00 </a:t>
            </a:r>
          </a:p>
        </p:txBody>
      </p:sp>
      <p:sp>
        <p:nvSpPr>
          <p:cNvPr id="81" name="Скругленный прямоугольник 80"/>
          <p:cNvSpPr/>
          <p:nvPr/>
        </p:nvSpPr>
        <p:spPr>
          <a:xfrm>
            <a:off x="10823270" y="2395870"/>
            <a:ext cx="794385" cy="267337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ru-RU" sz="700" dirty="0"/>
              <a:t>116 812,03 </a:t>
            </a:r>
          </a:p>
        </p:txBody>
      </p:sp>
      <p:sp>
        <p:nvSpPr>
          <p:cNvPr id="82" name="Скругленный прямоугольник 81"/>
          <p:cNvSpPr/>
          <p:nvPr/>
        </p:nvSpPr>
        <p:spPr>
          <a:xfrm>
            <a:off x="10823269" y="2796237"/>
            <a:ext cx="794385" cy="267337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ru-RU" sz="700" dirty="0"/>
              <a:t>875 609,47 </a:t>
            </a:r>
          </a:p>
        </p:txBody>
      </p:sp>
      <p:sp>
        <p:nvSpPr>
          <p:cNvPr id="83" name="Скругленный прямоугольник 82"/>
          <p:cNvSpPr/>
          <p:nvPr/>
        </p:nvSpPr>
        <p:spPr>
          <a:xfrm>
            <a:off x="10828889" y="1973646"/>
            <a:ext cx="794385" cy="267337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ru-RU" sz="700" dirty="0"/>
              <a:t>620 526,88 </a:t>
            </a:r>
          </a:p>
        </p:txBody>
      </p:sp>
    </p:spTree>
    <p:extLst>
      <p:ext uri="{BB962C8B-B14F-4D97-AF65-F5344CB8AC3E}">
        <p14:creationId xmlns:p14="http://schemas.microsoft.com/office/powerpoint/2010/main" val="29743001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771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311876" y="2136970"/>
            <a:ext cx="5568248" cy="144655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ru-RU" sz="4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Спасибо</a:t>
            </a:r>
          </a:p>
          <a:p>
            <a:pPr algn="ctr"/>
            <a:r>
              <a:rPr lang="ru-RU" sz="4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за внимание!</a:t>
            </a:r>
            <a:endParaRPr lang="ru-RU" sz="4400" b="1" spc="2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2931FF5F-F075-D6FC-E914-F6ADFFCE5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6827F-A79C-48A5-9FEC-A2BFF2596D14}" type="slidenum">
              <a:rPr lang="ru-RU" smtClean="0"/>
              <a:pPr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394252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7066</TotalTime>
  <Words>1568</Words>
  <Application>Microsoft Office PowerPoint</Application>
  <PresentationFormat>Широкоэкранный</PresentationFormat>
  <Paragraphs>173</Paragraphs>
  <Slides>10</Slides>
  <Notes>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7" baseType="lpstr">
      <vt:lpstr>SimSun</vt:lpstr>
      <vt:lpstr>Arial</vt:lpstr>
      <vt:lpstr>Calibri</vt:lpstr>
      <vt:lpstr>Calibri Light</vt:lpstr>
      <vt:lpstr>Times New Roman</vt:lpstr>
      <vt:lpstr>Verdana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Черная Екатерина</dc:creator>
  <cp:lastModifiedBy>user</cp:lastModifiedBy>
  <cp:revision>656</cp:revision>
  <cp:lastPrinted>2019-01-31T09:38:16Z</cp:lastPrinted>
  <dcterms:created xsi:type="dcterms:W3CDTF">2018-06-14T07:39:51Z</dcterms:created>
  <dcterms:modified xsi:type="dcterms:W3CDTF">2026-09-29T09:35:38Z</dcterms:modified>
</cp:coreProperties>
</file>