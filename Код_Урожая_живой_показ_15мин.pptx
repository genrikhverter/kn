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Эталон NDVI</c:v>
                </c:pt>
              </c:strCache>
            </c:strRef>
          </c:tx>
          <c:spPr>
            <a:ln w="34925">
              <a:solidFill>
                <a:srgbClr val="0070C0"/>
              </a:solidFill>
            </a:ln>
          </c:spPr>
          <c:marker>
            <c:spPr>
              <a:solidFill>
                <a:srgbClr val="0070C0"/>
              </a:solidFill>
            </c:spPr>
          </c:marker>
          <c:cat>
            <c:strRef>
              <c:f>Sheet1!$A$2:$A$7</c:f>
              <c:strCache>
                <c:ptCount val="6"/>
                <c:pt idx="0">
                  <c:v>Апр</c:v>
                </c:pt>
                <c:pt idx="1">
                  <c:v>Май</c:v>
                </c:pt>
                <c:pt idx="2">
                  <c:v>Июн</c:v>
                </c:pt>
                <c:pt idx="3">
                  <c:v>Июл</c:v>
                </c:pt>
                <c:pt idx="4">
                  <c:v>Авг</c:v>
                </c:pt>
                <c:pt idx="5">
                  <c:v>Сен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</c:v>
                </c:pt>
                <c:pt idx="1">
                  <c:v>0.45</c:v>
                </c:pt>
                <c:pt idx="2">
                  <c:v>0.68</c:v>
                </c:pt>
                <c:pt idx="3">
                  <c:v>0.82</c:v>
                </c:pt>
                <c:pt idx="4">
                  <c:v>0.75</c:v>
                </c:pt>
                <c:pt idx="5">
                  <c:v>0.52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ln w="34925">
              <a:solidFill>
                <a:srgbClr val="ED7D31"/>
              </a:solidFill>
            </a:ln>
          </c:spPr>
          <c:marker>
            <c:spPr>
              <a:solidFill>
                <a:srgbClr val="ED7D31"/>
              </a:solidFill>
            </c:spPr>
          </c:marker>
          <c:cat>
            <c:strRef>
              <c:f>Sheet1!$A$2:$A$7</c:f>
              <c:strCache>
                <c:ptCount val="6"/>
                <c:pt idx="0">
                  <c:v>Апр</c:v>
                </c:pt>
                <c:pt idx="1">
                  <c:v>Май</c:v>
                </c:pt>
                <c:pt idx="2">
                  <c:v>Июн</c:v>
                </c:pt>
                <c:pt idx="3">
                  <c:v>Июл</c:v>
                </c:pt>
                <c:pt idx="4">
                  <c:v>Авг</c:v>
                </c:pt>
                <c:pt idx="5">
                  <c:v>Сен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0.16</c:v>
                </c:pt>
                <c:pt idx="1">
                  <c:v>0.38</c:v>
                </c:pt>
                <c:pt idx="2">
                  <c:v>0.52</c:v>
                </c:pt>
                <c:pt idx="3">
                  <c:v>0.59</c:v>
                </c:pt>
                <c:pt idx="4">
                  <c:v>0.5</c:v>
                </c:pt>
                <c:pt idx="5">
                  <c:v>0.33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262626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7E6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95959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Концептуальная дека: ценность для фермера, холдинга, сообщества и государства; IoT-контур (MITE) и позиция госаудитора. Живой стенд — доказательство осуществимости.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боли агронома — констатация разрыва «наука ↔ поле». Этот разрыв и есть предмет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опоры — ответ на боли: цикл (против разрозненности), отклонения (против реакции), знания (против «в голове»).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«Было → стало» по пяти доменам работы фермера-агронома. Каждый «стало» проверяем на живом стенде.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«Было → стало» для холдинга. Строки соответствуют формам стенда: планы, витрины, регламентные задания.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Сетевой эффект: чем больше участников, тем ценнее для каждого. Данные хозяйства раскрываются только владельцем; бенчмарки — обезличенные.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«От поля до прилавка» — рамка для продбезопасности. Платформа управляет первым звеном и подготовлена к стыковке с остальными.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концепция: замкнутый контур «данные → модели → решения → факты → калибровка».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Концепт «ИИ-Агроном»: ассистент с объяснениями. Примеры диалога опираются на механизмы стенда (баланс NPK, стресс по NDVI, коррекция с экономикой).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Короткое подтверждение осуществимости. Числа сверены с БД стенда; географию и названия хозяйств не упоминаем.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IoT-контур — унаследованная и развитая часть MITE: датчики, точки размещения, приём телеметрии по MQTT/Modbus/REST. Кадр — живой стенд с демо-устройствами.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Поток телеметрии: приём → шина с порогами → платформа → действия. Датчики — равноправный источник данных для моделей наряду со спутником и агрохимией.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Раннее предупреждение — главный принцип платформы и прямой вклад в продовольственную безопасность.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Прямая связь с темой гранта: шесть механизмов вклада. Формулировка внизу — смысловой центр деки.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Позиция госаудитора: четыре интенции контроля — и чем на каждую отвечает платформа. Всё проверяемо на стенде: журнал изменений, витрины, правила севооборота, акты.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Импакт-эффекты для государства: от прозрачности субсидий до доверия к продукции. Итог — превентивный характер контроля.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Дорожная карта с честным статусом. В «сегодня» добавлен IoT-приём телеметрии; в «цель» — сообщество.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Резерв: живой стенд — показать любую форму, включая IoT-контур 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0"/>
            <a:ext cx="10981944" cy="6848856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749808"/>
            <a:ext cx="2029968" cy="612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70048" y="658368"/>
            <a:ext cx="5074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62626"/>
                </a:solidFill>
                <a:latin typeface="Calibri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62626"/>
                </a:solidFill>
                <a:latin typeface="Calibri"/>
              </a:rPr>
              <a:t>«Государственный университет управления»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262626"/>
                </a:solidFill>
                <a:latin typeface="Arial"/>
              </a:rPr>
              <a:t>Цифровая платформа</a:t>
            </a:r>
          </a:p>
          <a:p>
            <a:pPr algn="l"/>
            <a:r>
              <a:rPr sz="4000" b="1" i="0">
                <a:solidFill>
                  <a:srgbClr val="002060"/>
                </a:solidFill>
                <a:latin typeface="Arial"/>
              </a:rPr>
              <a:t>«КОД УРОЖАЯ»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3749039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70C0"/>
                </a:solidFill>
                <a:latin typeface="Calibri"/>
              </a:rPr>
              <a:t>агрономическая наука — в каждое поле: от фермы до продовольственной безопасности страны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443484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060"/>
                </a:solidFill>
                <a:latin typeface="Calibri"/>
              </a:rPr>
              <a:t>«Обеспечение продовольственной безопасности страны на основе создания программно-аппаратных комплексов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060"/>
                </a:solidFill>
                <a:latin typeface="Calibri"/>
              </a:rPr>
              <a:t>и интеллектуальных платформенных цифровых решений в сфере развития агропромышленных технологий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2060"/>
                </a:solidFill>
                <a:latin typeface="Calibri"/>
              </a:rPr>
              <a:t>полного жизненного цикла»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5623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2060"/>
                </a:solidFill>
                <a:latin typeface="Calibri"/>
              </a:rPr>
              <a:t>Руководитель проекта — д.т.н., проф. Терентьев А.В.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035040"/>
            <a:ext cx="45720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02060"/>
                </a:solidFill>
                <a:latin typeface="Calibri"/>
              </a:rPr>
              <a:t>Москва –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ВЫЗОВ: ЧТО МЕШАЕТ АГРОНОМУ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463040"/>
            <a:ext cx="4663440" cy="17830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682496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02060"/>
                </a:solidFill>
                <a:latin typeface="Calibri"/>
              </a:rPr>
              <a:t>Данные живут в разных мирах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бумаги и таблицы, мониторинг техники, спутник, агрохимия — порознь; картину поля агроном собирает вручную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19" y="1463040"/>
            <a:ext cx="4663440" cy="17830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39" y="1682496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02060"/>
                </a:solidFill>
                <a:latin typeface="Calibri"/>
              </a:rPr>
              <a:t>Знания не доходят до поля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нормы, правила севооборота и опыт держатся в голове специалиста — и уходят вместе с ним; наука остаётся в методичках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" y="3520440"/>
            <a:ext cx="4663440" cy="17830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739896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02060"/>
                </a:solidFill>
                <a:latin typeface="Calibri"/>
              </a:rPr>
              <a:t>Реакция вместо предупреждения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проблему видят глазом на поле — когда часть урожая уже потеряна, а план по валу не выполним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19" y="3520440"/>
            <a:ext cx="4663440" cy="17830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39" y="3739896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02060"/>
                </a:solidFill>
                <a:latin typeface="Calibri"/>
              </a:rPr>
              <a:t>Инструменты — не для малых хозяйств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системы уровня холдингов дороги и тяжелы: фермеру проще «как всегда», чем внедрять ПО дольше сезона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5623560"/>
            <a:ext cx="96103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62626"/>
                </a:solidFill>
                <a:latin typeface="Calibri"/>
              </a:rPr>
              <a:t>Разрыв между агрономической наукой и ежедневными решениями на поле — это недобранный урожай, перерасход ресурсов и нестабильность производства.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ИДЕЯ: ЗНАНИЯ — В КАЖДОЕ ПОЛЕ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481328"/>
            <a:ext cx="868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0C0"/>
                </a:solidFill>
                <a:latin typeface="Verdan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8503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62626"/>
                </a:solidFill>
                <a:latin typeface="Calibri"/>
              </a:rPr>
              <a:t>Полный цикл в одном приложении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от земельного участка и севооборота — до уборки и учёта урожая. Все контуры растениеводства работают на одних данных, в едином веб-клиенте.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" y="2852928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3127248"/>
            <a:ext cx="868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0C0"/>
                </a:solidFill>
                <a:latin typeface="Verdan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8503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62626"/>
                </a:solidFill>
                <a:latin typeface="Calibri"/>
              </a:rPr>
              <a:t>Управление по отклонениям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система знает, каким поле должно быть каждый день, и сама сравнивает факт с эталоном. Внимание агронома получает только то поле, где началось отклонение.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4498848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" y="4773168"/>
            <a:ext cx="868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0C0"/>
                </a:solidFill>
                <a:latin typeface="Verdan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8503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62626"/>
                </a:solidFill>
                <a:latin typeface="Calibri"/>
              </a:rPr>
              <a:t>Извлечение скрытых знаний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правила и обученные модели превращают разрозненные данные — от спутника до бортового компьютера — в диагноз, рекомендацию и уточнение моделей.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6144768"/>
            <a:ext cx="96103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02060"/>
                </a:solidFill>
                <a:latin typeface="Calibri"/>
              </a:rPr>
              <a:t>Операционная система растениеводства хозяйства, а не «ещё один дашборд».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ЧТО ПОЛУЧАЕТ ФЕРМЕР: БЫЛО → СТАЛО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984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Verdana"/>
              </a:rPr>
              <a:t>БЫЛО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2984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Verdana"/>
              </a:rPr>
              <a:t>СТАЛО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170992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Севооборот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1755648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673352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правила «в голове» и «в тетради»; нарушение замечают по осени</a:t>
            </a:r>
          </a:p>
        </p:txBody>
      </p:sp>
      <p:sp>
        <p:nvSpPr>
          <p:cNvPr id="12" name="Oval 11"/>
          <p:cNvSpPr/>
          <p:nvPr/>
        </p:nvSpPr>
        <p:spPr>
          <a:xfrm>
            <a:off x="6446520" y="1755648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673352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система предупреждает о нарушении правил севооборота и помнит историю каждого поля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2404872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255117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Дозирование удобрений</a:t>
            </a:r>
          </a:p>
        </p:txBody>
      </p:sp>
      <p:sp>
        <p:nvSpPr>
          <p:cNvPr id="16" name="Oval 15"/>
          <p:cNvSpPr/>
          <p:nvPr/>
        </p:nvSpPr>
        <p:spPr>
          <a:xfrm>
            <a:off x="2834640" y="2596896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51460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«как всегда», усреднённо на всё поле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2596896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514600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баланс по агрохимии и зонам поля, с учётом сценариев «что-если» и пониманием экономики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" y="3246120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3392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Мониторинг и контроль состояния посевов</a:t>
            </a:r>
          </a:p>
        </p:txBody>
      </p:sp>
      <p:sp>
        <p:nvSpPr>
          <p:cNvPr id="22" name="Oval 21"/>
          <p:cNvSpPr/>
          <p:nvPr/>
        </p:nvSpPr>
        <p:spPr>
          <a:xfrm>
            <a:off x="2834640" y="3438144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335584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объезд полей и оценка «на глаз»; ущерб становится виден слишком поздно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3438144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3355848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контроль состояния на основе «эталона против факта» по спутнику: сигнал об отклонении возникает задолго до уборки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" y="4087368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423367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Работа техники</a:t>
            </a:r>
          </a:p>
        </p:txBody>
      </p:sp>
      <p:sp>
        <p:nvSpPr>
          <p:cNvPr id="28" name="Oval 27"/>
          <p:cNvSpPr/>
          <p:nvPr/>
        </p:nvSpPr>
        <p:spPr>
          <a:xfrm>
            <a:off x="2834640" y="4279392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4197096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ведение заданий на бумаге; о результатах — узнаёшь со слов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4279392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4197096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автоматизированное формирование предписания для техники (ISOXML); ход и результат выполнения видно сразу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" y="4928616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074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Документы и учёт</a:t>
            </a:r>
          </a:p>
        </p:txBody>
      </p:sp>
      <p:sp>
        <p:nvSpPr>
          <p:cNvPr id="34" name="Oval 33"/>
          <p:cNvSpPr/>
          <p:nvPr/>
        </p:nvSpPr>
        <p:spPr>
          <a:xfrm>
            <a:off x="2834640" y="5120640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35808" y="503834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акты и ведомости ведутся вручную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5120640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5038344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формируются сами, в день операции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" y="5943600"/>
            <a:ext cx="9610344" cy="777240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6144768"/>
            <a:ext cx="9061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75623"/>
                </a:solidFill>
                <a:latin typeface="Calibri"/>
              </a:rPr>
              <a:t>Стремление к организации управления на уровне агрохолдинга: аналитика и наука упакованы в единый инструмент.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ЧТО ПОЛУЧАЕТ АГРОХОЛДИНГ: БЫЛО → СТАЛО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2984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Verdana"/>
              </a:rPr>
              <a:t>БЫЛО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2984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0AD47"/>
                </a:solidFill>
                <a:latin typeface="Verdana"/>
              </a:rPr>
              <a:t>СТАЛО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1709928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Стандарты агрономических операций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1755648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673352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у каждого отделения свои привычки, операционные нормы и методы</a:t>
            </a:r>
          </a:p>
        </p:txBody>
      </p:sp>
      <p:sp>
        <p:nvSpPr>
          <p:cNvPr id="12" name="Oval 11"/>
          <p:cNvSpPr/>
          <p:nvPr/>
        </p:nvSpPr>
        <p:spPr>
          <a:xfrm>
            <a:off x="6446520" y="1755648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673352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единые правила севооборота, формы технологических карт и нормативов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2404872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2551176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Сопоставимость</a:t>
            </a:r>
          </a:p>
        </p:txBody>
      </p:sp>
      <p:sp>
        <p:nvSpPr>
          <p:cNvPr id="16" name="Oval 15"/>
          <p:cNvSpPr/>
          <p:nvPr/>
        </p:nvSpPr>
        <p:spPr>
          <a:xfrm>
            <a:off x="2834640" y="2596896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51460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поля, сорта и технологии несопоставимы между отделениями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2596896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514600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сведение план-фактного анализа по холдингу в целом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" y="3246120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3392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Мониторинг и контроль сезона</a:t>
            </a:r>
          </a:p>
        </p:txBody>
      </p:sp>
      <p:sp>
        <p:nvSpPr>
          <p:cNvPr id="22" name="Oval 21"/>
          <p:cNvSpPr/>
          <p:nvPr/>
        </p:nvSpPr>
        <p:spPr>
          <a:xfrm>
            <a:off x="2834640" y="3438144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335584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информационная рассогласованность плановых и фактических показателей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3438144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3355848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ход исполнения техкарт и осуществление коррекций видно в режиме реального времени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" y="4087368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4233672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Знания хозяйства</a:t>
            </a:r>
          </a:p>
        </p:txBody>
      </p:sp>
      <p:sp>
        <p:nvSpPr>
          <p:cNvPr id="28" name="Oval 27"/>
          <p:cNvSpPr/>
          <p:nvPr/>
        </p:nvSpPr>
        <p:spPr>
          <a:xfrm>
            <a:off x="2834640" y="4279392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4197096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опыт уходит вместе с людьми, ошибки рискуют повторяться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4279392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4197096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модели калибруются на фактах: знания остаются в системе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" y="4928616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0749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Отчётность</a:t>
            </a:r>
          </a:p>
        </p:txBody>
      </p:sp>
      <p:sp>
        <p:nvSpPr>
          <p:cNvPr id="34" name="Oval 33"/>
          <p:cNvSpPr/>
          <p:nvPr/>
        </p:nvSpPr>
        <p:spPr>
          <a:xfrm>
            <a:off x="2834640" y="5120640"/>
            <a:ext cx="82296" cy="82296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35808" y="503834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отчёты собирают вручную из разных систем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5120640"/>
            <a:ext cx="82296" cy="82296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5038344"/>
            <a:ext cx="33192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витрины данных и отчёты по шаблонам — за секунды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" y="5943600"/>
            <a:ext cx="9610344" cy="777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6144768"/>
            <a:ext cx="9061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02060"/>
                </a:solidFill>
                <a:latin typeface="Calibri"/>
              </a:rPr>
              <a:t>Масштаб без потери научной глубины; холдинг виден как единая система.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ФОРМИРОВАНИЕ СООБЩЕСТВ ОБМЕНА ЗНАНИЯМИ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463040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664208"/>
            <a:ext cx="41148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Calibri"/>
              </a:rPr>
              <a:t>Обезличенные бенчмарки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«такая ситуация является нормальной?» — сравнение урожайности и затрат регионов с учётом культур, технологий и особенностей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19" y="1463040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39" y="1664208"/>
            <a:ext cx="41148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Calibri"/>
              </a:rPr>
              <a:t>Общие модели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коэффициенты калибруются на данных многих хозяйств: точность прогноза растёт для каждого участника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" y="3410712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611880"/>
            <a:ext cx="41148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Calibri"/>
              </a:rPr>
              <a:t>Обмен практиками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сорта, схемы, решения — проверенные в полях, а не в брошюрах; опыт одного становится стартовой точкой других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19" y="3410712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39" y="3611880"/>
            <a:ext cx="41148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2060"/>
                </a:solidFill>
                <a:latin typeface="Calibri"/>
              </a:rPr>
              <a:t>Картина регионального масштаба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по множеству полей сразу видны засуха, вредители, сдвиги сроков — на уровне региона, а не одного хозяйства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5532120"/>
            <a:ext cx="96103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Каждое новое хозяйство делает платформу умнее — при сохранении конфиденциальности данных владельца.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Результативность АПК растёт как «система», а не как «сумма» отдельных хозяйств.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ОТ ПОЛЯ ДО ПРИЛАВКА: ОДНА ЦЕПОЧКА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60020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Поле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42516" y="1952244"/>
            <a:ext cx="13258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9676" y="160020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4540" y="187451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262626"/>
                </a:solidFill>
                <a:latin typeface="Calibri"/>
              </a:rPr>
              <a:t>Уборка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65576" y="1952244"/>
            <a:ext cx="13258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2736" y="160020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87451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262626"/>
                </a:solidFill>
                <a:latin typeface="Calibri"/>
              </a:rPr>
              <a:t>Хранение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88636" y="1952244"/>
            <a:ext cx="13258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5796" y="160020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0659" y="187451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262626"/>
                </a:solidFill>
                <a:latin typeface="Calibri"/>
              </a:rPr>
              <a:t>Переработка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11696" y="1952244"/>
            <a:ext cx="13258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48856" y="160020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1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262626"/>
                </a:solidFill>
                <a:latin typeface="Calibri"/>
              </a:rPr>
              <a:t>Логистика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34756" y="1952244"/>
            <a:ext cx="13258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71916" y="160020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6780" y="187451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Прилавок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2743200"/>
            <a:ext cx="96103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каждый переход — проверяемые данные и документы: партии, качество, объёмы, условия</a:t>
            </a:r>
          </a:p>
        </p:txBody>
      </p:sp>
      <p:sp>
        <p:nvSpPr>
          <p:cNvPr id="25" name="Oval 24"/>
          <p:cNvSpPr/>
          <p:nvPr/>
        </p:nvSpPr>
        <p:spPr>
          <a:xfrm>
            <a:off x="356616" y="3300984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227832"/>
            <a:ext cx="44256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Платформа ведёт первое звено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поле: планы, технологии, факт урожая — первичные данные</a:t>
            </a:r>
          </a:p>
        </p:txBody>
      </p:sp>
      <p:sp>
        <p:nvSpPr>
          <p:cNvPr id="27" name="Oval 26"/>
          <p:cNvSpPr/>
          <p:nvPr/>
        </p:nvSpPr>
        <p:spPr>
          <a:xfrm>
            <a:off x="356616" y="4169663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096512"/>
            <a:ext cx="44256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Готовность к стыковке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стандартные API и контракты обмена с последующими звеньями и ФГИС</a:t>
            </a:r>
          </a:p>
        </p:txBody>
      </p:sp>
      <p:sp>
        <p:nvSpPr>
          <p:cNvPr id="29" name="Oval 28"/>
          <p:cNvSpPr/>
          <p:nvPr/>
        </p:nvSpPr>
        <p:spPr>
          <a:xfrm>
            <a:off x="5303520" y="3300984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1264" y="3227832"/>
            <a:ext cx="44256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Прослеживаемость партии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от урожая конкретного поля — до документа на отгрузку</a:t>
            </a:r>
          </a:p>
        </p:txBody>
      </p:sp>
      <p:sp>
        <p:nvSpPr>
          <p:cNvPr id="31" name="Oval 30"/>
          <p:cNvSpPr/>
          <p:nvPr/>
        </p:nvSpPr>
        <p:spPr>
          <a:xfrm>
            <a:off x="5303520" y="4169663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4096512"/>
            <a:ext cx="44256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Доверие потребителя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проверяемое качество и происхождение отечественной продукции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257800"/>
            <a:ext cx="96103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62626"/>
                </a:solidFill>
                <a:latin typeface="Calibri"/>
              </a:rPr>
              <a:t>Сквозная прослеживаемость — фундамент продовольственной безопасности: видно, чем заполнен прилавок и откуда это пришло.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ЗАМКНУТЫЙ ЦИКЛ: СИСТЕМА УМНЕЕТ КАЖДЫЙ СЕЗОН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600200"/>
            <a:ext cx="1783080" cy="1188720"/>
          </a:xfrm>
          <a:prstGeom prst="roundRect">
            <a:avLst>
              <a:gd name="adj" fmla="val 9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46504"/>
            <a:ext cx="1527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Данные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поле, агрохимия,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спутник, техника, ФГИС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39" y="2112264"/>
            <a:ext cx="15544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13432" y="1600200"/>
            <a:ext cx="1783080" cy="1188720"/>
          </a:xfrm>
          <a:prstGeom prst="roundRect">
            <a:avLst>
              <a:gd name="adj" fmla="val 9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1746504"/>
            <a:ext cx="1527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Правила и модели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DEEBF7"/>
                </a:solidFill>
                <a:latin typeface="Calibri"/>
              </a:rPr>
              <a:t>эталон сезона,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DEEBF7"/>
                </a:solidFill>
                <a:latin typeface="Calibri"/>
              </a:rPr>
              <a:t>диагнозы, рекомендации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05656" y="2112264"/>
            <a:ext cx="15544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1783080" cy="1188720"/>
          </a:xfrm>
          <a:prstGeom prst="roundRect">
            <a:avLst>
              <a:gd name="adj" fmla="val 9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1746504"/>
            <a:ext cx="1527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Решение агронома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утверждение —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решение за человеком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62472" y="2112264"/>
            <a:ext cx="15544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1600200"/>
            <a:ext cx="1783080" cy="1188720"/>
          </a:xfrm>
          <a:prstGeom prst="roundRect">
            <a:avLst>
              <a:gd name="adj" fmla="val 9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746504"/>
            <a:ext cx="1527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Исполнение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техкарты, предписания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технике, материалы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19288" y="2112264"/>
            <a:ext cx="155448" cy="164592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1600200"/>
            <a:ext cx="1783080" cy="1188720"/>
          </a:xfrm>
          <a:prstGeom prst="roundRect">
            <a:avLst>
              <a:gd name="adj" fmla="val 9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746504"/>
            <a:ext cx="152704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262626"/>
                </a:solidFill>
                <a:latin typeface="Calibri"/>
              </a:rPr>
              <a:t>Факты сезона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учёт урожая,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агрохимия, наблюдения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947404" y="2862072"/>
            <a:ext cx="256032" cy="475488"/>
          </a:xfrm>
          <a:prstGeom prst="down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4972" y="3493008"/>
            <a:ext cx="5998464" cy="566928"/>
          </a:xfrm>
          <a:prstGeom prst="roundRect">
            <a:avLst>
              <a:gd name="adj" fmla="val 22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3076956" y="2862072"/>
            <a:ext cx="256032" cy="475488"/>
          </a:xfrm>
          <a:prstGeom prst="up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3572" y="3630168"/>
            <a:ext cx="5550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375623"/>
                </a:solidFill>
                <a:latin typeface="Calibri"/>
              </a:rPr>
              <a:t>факты калибруют правила и модели — следующий сезон точнее предыдущего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4709160"/>
            <a:ext cx="961034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Calibri"/>
              </a:rPr>
              <a:t>Самообучающийся контур вместо статичного учёта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95959"/>
                </a:solidFill>
                <a:latin typeface="Calibri"/>
              </a:rPr>
              <a:t>каждый сезон оставляет проверяемый след: планы, отклонения, решения, урожай. Накопленная история — это актив хозяйства: на ней калибруются коэффициенты моделей, уточняются нормативы и сравниваются технологии. Знания перестают зависеть от ухода специалиста.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ИИ-АГРОНОМ: АССИСТЕНТ, КОТОРЫЙ ОБЪЯСНЯЕТ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356616" y="1563624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42428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Рекомендация с обоснованием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не «чёрный ящик», а диагноз и расчёт эффекта</a:t>
            </a:r>
          </a:p>
        </p:txBody>
      </p:sp>
      <p:sp>
        <p:nvSpPr>
          <p:cNvPr id="9" name="Oval 8"/>
          <p:cNvSpPr/>
          <p:nvPr/>
        </p:nvSpPr>
        <p:spPr>
          <a:xfrm>
            <a:off x="356616" y="2432303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59151"/>
            <a:ext cx="42428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Диалог на языке агронома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вопрос по любому полю, культуре, сезону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" y="3300984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27832"/>
            <a:ext cx="42428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Решение остаётся за человеком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ассистент предлагает — агроном утверждает</a:t>
            </a:r>
          </a:p>
        </p:txBody>
      </p:sp>
      <p:pic>
        <p:nvPicPr>
          <p:cNvPr id="13" name="Picture 12" descr="deck-corre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4160520"/>
            <a:ext cx="4389120" cy="211879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56616" y="4160520"/>
            <a:ext cx="4389120" cy="2118795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6370755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Итог такого диалога: коррекция с эффектом 26 100 ₽/га, «Утверждена».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554480"/>
            <a:ext cx="4800600" cy="448056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874519"/>
            <a:ext cx="40690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«Почему здесь 190 кг азота?»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 b="0" i="0">
                <a:solidFill>
                  <a:srgbClr val="DEEBF7"/>
                </a:solidFill>
                <a:latin typeface="Calibri"/>
              </a:rPr>
              <a:t>— потому что вынос N на целевую урожайность 65 ц/га превышает запасы почвы зоны на 34 %; балансовый расчёт и цена удобрений — в комплексном плане.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«Чем болеет Северное-1?»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EEBF7"/>
                </a:solidFill>
                <a:latin typeface="Calibri"/>
              </a:rPr>
              <a:t>— факт-NDVI на 28 % ниже эталона с 8-й недели; вероятный диагноз — дефицит азота; рекомендация с эффектом 26 100 ₽/га ждёт утверждения.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СИСТЕМА РЕАЛИЗОВАНА: ПОЛНЫЙ ЦИКЛ В РАБОТЕ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298448"/>
            <a:ext cx="96103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Все контуры платформы развёрнуты как единая работающая система на опытном стенде (демо-холдинг, 29 полей):</a:t>
            </a:r>
          </a:p>
        </p:txBody>
      </p:sp>
      <p:pic>
        <p:nvPicPr>
          <p:cNvPr id="8" name="Picture 7" descr="nph-fields-crops.png"/>
          <p:cNvPicPr>
            <a:picLocks noChangeAspect="1"/>
          </p:cNvPicPr>
          <p:nvPr/>
        </p:nvPicPr>
        <p:blipFill>
          <a:blip r:embed="rId4"/>
          <a:srcRect t="4000"/>
          <a:stretch>
            <a:fillRect/>
          </a:stretch>
        </p:blipFill>
        <p:spPr>
          <a:xfrm>
            <a:off x="356616" y="1783080"/>
            <a:ext cx="2377440" cy="11017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6616" y="1783080"/>
            <a:ext cx="2377440" cy="1101773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2976293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карта полей и культур</a:t>
            </a:r>
          </a:p>
        </p:txBody>
      </p:sp>
      <p:pic>
        <p:nvPicPr>
          <p:cNvPr id="11" name="Picture 10" descr="deck-ku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3512" y="1783080"/>
            <a:ext cx="2377440" cy="1147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53512" y="1783080"/>
            <a:ext cx="2377440" cy="114768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3022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сводка состояния</a:t>
            </a:r>
          </a:p>
        </p:txBody>
      </p:sp>
      <p:pic>
        <p:nvPicPr>
          <p:cNvPr id="14" name="Picture 13" descr="deck-simresul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" y="3561696"/>
            <a:ext cx="2377440" cy="11476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56616" y="3561696"/>
            <a:ext cx="2377440" cy="114768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4800817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прогнозы по полям</a:t>
            </a:r>
          </a:p>
        </p:txBody>
      </p:sp>
      <p:pic>
        <p:nvPicPr>
          <p:cNvPr id="17" name="Picture 16" descr="deck-harv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3512" y="3561696"/>
            <a:ext cx="2377440" cy="11476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953512" y="3561696"/>
            <a:ext cx="2377440" cy="114768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4800817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акты урожая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783080"/>
            <a:ext cx="3977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070C0"/>
                </a:solidFill>
                <a:latin typeface="Verdana"/>
              </a:rPr>
              <a:t>67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модулей сервера приложений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807208"/>
            <a:ext cx="3977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070C0"/>
                </a:solidFill>
                <a:latin typeface="Verdana"/>
              </a:rPr>
              <a:t>385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таблиц единой модели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831336"/>
            <a:ext cx="3977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070C0"/>
                </a:solidFill>
                <a:latin typeface="Verdana"/>
              </a:rPr>
              <a:t>9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функциональных контуров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855464"/>
            <a:ext cx="3977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1" i="0">
                <a:solidFill>
                  <a:srgbClr val="0070C0"/>
                </a:solidFill>
                <a:latin typeface="Verdana"/>
              </a:rPr>
              <a:t>суточный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прогон моделей по всем полям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5806440"/>
            <a:ext cx="3977639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5943600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62626"/>
                </a:solidFill>
                <a:latin typeface="Calibri"/>
              </a:rPr>
              <a:t>Дозы, зоны и прогнозы считаются по агрохимии и геометрии полей.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ИНТЕРНЕТ ВЕЩЕЙ ХОЗЯЙСТВА: УСТРОЙСТВА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356616" y="1517904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Реестр устройств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датчики, контроллеры, точки размещения — со своей географией</a:t>
            </a:r>
          </a:p>
        </p:txBody>
      </p:sp>
      <p:sp>
        <p:nvSpPr>
          <p:cNvPr id="9" name="Oval 8"/>
          <p:cNvSpPr/>
          <p:nvPr/>
        </p:nvSpPr>
        <p:spPr>
          <a:xfrm>
            <a:off x="356616" y="2414016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40864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Приём телеметрии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встроенные серверы приёма: MQTT, Modbus, REST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" y="3310128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36976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История измерений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суточные ряды: температура, влажность, заряд — период опроса у устройства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" y="4206240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33088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Связка с картой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датчик машины двигает её точку на карте; стационарные — по своим зонам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" y="5257800"/>
            <a:ext cx="2971800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544068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Хозяйство видит свои устройства так же, как поля, — на одной платформе.</a:t>
            </a:r>
          </a:p>
        </p:txBody>
      </p:sp>
      <p:pic>
        <p:nvPicPr>
          <p:cNvPr id="17" name="Picture 16" descr="deck-iot-sens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71600"/>
            <a:ext cx="6309360" cy="30457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520440" y="1371600"/>
            <a:ext cx="6309360" cy="3045768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508808"/>
            <a:ext cx="6309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IoT-контур платформы (MITE): реестр датчиков — типы, точки размещения, координаты, панель измерений.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ТЕЛЕМЕТРИЯ: ОТ ДАТЧИКА К РЕШЕНИЮ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deck-iot-poi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463040"/>
            <a:ext cx="5120640" cy="2471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56616" y="1463040"/>
            <a:ext cx="5120640" cy="2471928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4026407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Точки размещения: стационарные датчики склада и машина с GPS-трекером.</a:t>
            </a:r>
          </a:p>
        </p:txBody>
      </p:sp>
      <p:sp>
        <p:nvSpPr>
          <p:cNvPr id="10" name="Oval 9"/>
          <p:cNvSpPr/>
          <p:nvPr/>
        </p:nvSpPr>
        <p:spPr>
          <a:xfrm>
            <a:off x="356616" y="4626864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48828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Точка «Машина»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GPS-координаты техники приходят как измерения — машина «едет» по карте</a:t>
            </a:r>
          </a:p>
        </p:txBody>
      </p:sp>
      <p:sp>
        <p:nvSpPr>
          <p:cNvPr id="12" name="Oval 11"/>
          <p:cNvSpPr/>
          <p:nvPr/>
        </p:nvSpPr>
        <p:spPr>
          <a:xfrm>
            <a:off x="356616" y="5404103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330952"/>
            <a:ext cx="488289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62626"/>
                </a:solidFill>
                <a:latin typeface="Calibri"/>
              </a:rPr>
              <a:t>Точка «Склад»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95959"/>
                </a:solidFill>
                <a:latin typeface="Calibri"/>
              </a:rPr>
              <a:t>стационарные датчики среды; цифровой склад с зонами хранения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463040"/>
            <a:ext cx="4160520" cy="841248"/>
          </a:xfrm>
          <a:prstGeom prst="roundRect">
            <a:avLst>
              <a:gd name="adj" fmla="val 9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1600200"/>
            <a:ext cx="3648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62626"/>
                </a:solidFill>
                <a:latin typeface="Calibri"/>
              </a:rPr>
              <a:t>Датчики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метео · почва · техника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758683" y="2313432"/>
            <a:ext cx="256032" cy="201168"/>
          </a:xfrm>
          <a:prstGeom prst="down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06440" y="2523744"/>
            <a:ext cx="4160520" cy="841248"/>
          </a:xfrm>
          <a:prstGeom prst="roundRect">
            <a:avLst>
              <a:gd name="adj" fmla="val 9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2660904"/>
            <a:ext cx="3648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62626"/>
                </a:solidFill>
                <a:latin typeface="Calibri"/>
              </a:rPr>
              <a:t>Шина приёма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MQTT / Modbus / REST · буферизация · пороги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758683" y="3374136"/>
            <a:ext cx="256032" cy="201168"/>
          </a:xfrm>
          <a:prstGeom prst="down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06440" y="3584448"/>
            <a:ext cx="4160520" cy="841248"/>
          </a:xfrm>
          <a:prstGeom prst="roundRect">
            <a:avLst>
              <a:gd name="adj" fmla="val 9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3721608"/>
            <a:ext cx="3648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Платформа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DEEBF7"/>
                </a:solidFill>
                <a:latin typeface="Calibri"/>
              </a:rPr>
              <a:t>карта · модели · инциденты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758683" y="4434840"/>
            <a:ext cx="256032" cy="201168"/>
          </a:xfrm>
          <a:prstGeom prst="down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06440" y="4645152"/>
            <a:ext cx="4160520" cy="841248"/>
          </a:xfrm>
          <a:prstGeom prst="roundRect">
            <a:avLst>
              <a:gd name="adj" fmla="val 9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62472" y="4782312"/>
            <a:ext cx="36484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262626"/>
                </a:solidFill>
                <a:latin typeface="Calibri"/>
              </a:rPr>
              <a:t>Действия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алерт · задача · команда устройству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715000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62626"/>
                </a:solidFill>
                <a:latin typeface="Calibri"/>
              </a:rPr>
              <a:t>Данные датчиков попадают в те же модели и карты: эталон сезона уточняется фактами с поля в реальном времени.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ПРИНЦИП: ПРЕДУПРЕЖДАТЬ, А НЕ КОНСТАТИРОВАТЬ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29844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Ход вегетации одного поля за сезон. NDVI — спутниковый индекс биомассы посева.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56616" y="1645920"/>
          <a:ext cx="5943600" cy="39776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57607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Иллюстративный пример по механизму моделей платформы; величина отрыва (~28 %) — из прогона стенда.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Verdana"/>
              </a:rPr>
              <a:t>КАК ЧИТАТЬ ГРАФИК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0" y="1746504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1673352"/>
            <a:ext cx="31455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Синяя линия — эталон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траектория, которую модель считает нормой для этого поля: сорт, агрохимия, погода сезона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2862072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2788920"/>
            <a:ext cx="31455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Оранжевая линия — факт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то, что реально показывает спутник: биомасса посева неделя за неделей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3977639"/>
            <a:ext cx="100584" cy="10058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424" y="3904488"/>
            <a:ext cx="31455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Разрыв линий — сигнал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поле устойчиво отстаёт от нормы: система ставит диагноз и предлагает коррекцию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5166360"/>
            <a:ext cx="3383280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34924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262626"/>
                </a:solidFill>
                <a:latin typeface="Calibri"/>
              </a:rPr>
              <a:t>На графике отрыв нарастает с июня — у агронома остаются месяцы на вмешательство. Устойчивость валового сбора складывается из таких вмешательств по каждому полю.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ВКЛАД В ПРОДОВОЛЬСТВЕННУЮ БЕЗОПАСНОСТЬ СТРАНЫ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463040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27632"/>
            <a:ext cx="2697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2060"/>
                </a:solidFill>
                <a:latin typeface="Calibri"/>
              </a:rPr>
              <a:t>Устойчивость производства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раннее выявление стрессов и коррекции сохраняют валовой сбор — стабильность важнее рекордов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1463040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1627632"/>
            <a:ext cx="2697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2060"/>
                </a:solidFill>
                <a:latin typeface="Calibri"/>
              </a:rPr>
              <a:t>Научная обоснованность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севообороты, дозы и сорта по расчёту: продуктивность почв на длинном горизонте, меньше потерь удобрений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8855" y="1463040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627632"/>
            <a:ext cx="2697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2060"/>
                </a:solidFill>
                <a:latin typeface="Calibri"/>
              </a:rPr>
              <a:t>Прослеживаемость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сквозной учёт «от поля до прилавка» и связь с ФГИС — доверие к отечественной продукции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" y="3355848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520440"/>
            <a:ext cx="2697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2060"/>
                </a:solidFill>
                <a:latin typeface="Calibri"/>
              </a:rPr>
              <a:t>Доступность для малых форм хозяйств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инструменты уровня холдинга — фермеру: рост и «выравнивание» продуктивности по стране в целом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3355848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3520440"/>
            <a:ext cx="2697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2060"/>
                </a:solidFill>
                <a:latin typeface="Calibri"/>
              </a:rPr>
              <a:t>Данные для отрасли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накопленные данные калибруют модели и могут быть использованы в широком круге сценариев: от селекции определённых сортов до коррекции государственных и региональных программ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48855" y="3355848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3520440"/>
            <a:ext cx="2697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002060"/>
                </a:solidFill>
                <a:latin typeface="Calibri"/>
              </a:rPr>
              <a:t>Технологический суверенитет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62626"/>
                </a:solidFill>
                <a:latin typeface="Calibri"/>
              </a:rPr>
              <a:t>российская платформа, построенная на стеке российских союзных и открытых технологий с возможностью работы в закрытом контуре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5349240"/>
            <a:ext cx="961034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262626"/>
                </a:solidFill>
                <a:latin typeface="Calibri"/>
              </a:rPr>
              <a:t>Обеспечение продовольственной безопасности прямо связано с обоснованной наукой и данными способностью каждого хозяйства стабильно, из сезона в сезон получать урожай. Платформа делает такую способность массовой и тиражируемой — от поля до прилавка.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ПЛАТФОРМА С ПОЗИЦИИ АУДИТОРА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13258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Verdana"/>
              </a:rPr>
              <a:t>ЧТО ХОЧЕТ ПРОВЕРИТЬ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248" y="132588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  <a:latin typeface="Verdana"/>
              </a:rPr>
              <a:t>ЧТО ДАЁТ ПЛАТФОРМА</a:t>
            </a:r>
          </a:p>
        </p:txBody>
      </p:sp>
      <p:sp>
        <p:nvSpPr>
          <p:cNvPr id="9" name="Oval 8"/>
          <p:cNvSpPr/>
          <p:nvPr/>
        </p:nvSpPr>
        <p:spPr>
          <a:xfrm>
            <a:off x="356616" y="1801368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Целевое использование господдержки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субсидии на удобрения и технику — по назначению?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1847088"/>
            <a:ext cx="310896" cy="201168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13248" y="1801368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719072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Аудит изменений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каждое изменение данных: кто, что, старое → новое значение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2706624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" y="2843784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6148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Достоверность отчётности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площади, урожайность, объёмы — как есть?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92040" y="2889504"/>
            <a:ext cx="310896" cy="201168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3248" y="2843784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761488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Отчёты из первичных данных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витрины DWH и шаблоны: отчёт строится системой, а не переписывается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" y="3749039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6616" y="388620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Соблюдение агротребований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севооборот, сроки, агронормативы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92040" y="3931920"/>
            <a:ext cx="310896" cy="201168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13248" y="3886200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803904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Правила зашиты в систему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нарушение блокируется; история посевов и операций хранится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" y="4791455"/>
            <a:ext cx="9610344" cy="12774168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6616" y="4928616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846320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Происхождение продукции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откуда партия, в каких условиях выращена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92040" y="4974336"/>
            <a:ext cx="310896" cy="201168"/>
          </a:xfrm>
          <a:prstGeom prst="rightArrow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13248" y="4928616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4846320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262626"/>
                </a:solidFill>
                <a:latin typeface="Calibri"/>
              </a:rPr>
              <a:t>Прослеживаемость партий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от поля до отгрузки; готовность к обмену с ФГИС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" y="5897880"/>
            <a:ext cx="9610344" cy="777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" y="6080760"/>
            <a:ext cx="90617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02060"/>
                </a:solidFill>
                <a:latin typeface="Calibri"/>
              </a:rPr>
              <a:t>Аудитор проверяет не отдельные отчёты, а «систему» и цепочку событий, которые их породили.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ИМПАКТ ДЛЯ ГОСУДАРСТВА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463040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4592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Прозрачность господдержки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субсидии по проверяемым данным: адресность и измеримый эффект каждой меры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1463040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164592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Достоверная статистика АПК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цифры из первичных операций хозяйств, а не из итоговых отчётов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8855" y="1463040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645920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Раннее обнаружение угроз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региональные стрессы видны по совокупности полей — до потери валового сбора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" y="3355848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538728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Сокращение потерь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от поля до прилавка: учёт, прослеживаемость, контроль условий хранения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3355848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3538728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Данные для госпрограмм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фактическая результативность мер и продовольственный баланс — на живых данных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48855" y="3355848"/>
            <a:ext cx="3127248" cy="169164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3538728"/>
            <a:ext cx="2697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2060"/>
                </a:solidFill>
                <a:latin typeface="Calibri"/>
              </a:rPr>
              <a:t>Доверие к продукции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проверяемое происхождение — внутренний рынок и экспортный потенциал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5349240"/>
            <a:ext cx="9610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262626"/>
                </a:solidFill>
                <a:latin typeface="Calibri"/>
              </a:rPr>
              <a:t>Система делает хозяйство прозрачным «по ходу», а не «после факта» — это превращает контроль из разбора происшедшего в предупреждение потерь.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12191695" cy="981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144"/>
            <a:ext cx="6675120" cy="153619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4" y="146304"/>
            <a:ext cx="2075688" cy="6720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6616" y="2743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626"/>
                </a:solidFill>
                <a:latin typeface="Verdana"/>
              </a:rPr>
              <a:t>СТАТУС И ДОРОЖНАЯ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38251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1463040"/>
            <a:ext cx="3127248" cy="36576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70AD47"/>
                </a:solidFill>
                <a:latin typeface="Verdana"/>
              </a:rPr>
              <a:t>СЕГОДНЯ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62626"/>
                </a:solidFill>
                <a:latin typeface="Calibri"/>
              </a:rPr>
              <a:t>работающий прототип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651760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578608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полный цикл на опытном стенде (демо-холдинг, 29 полей)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4564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38328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9 контуров, единая карта, IoT-приём телеметрии, REST API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261104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187952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суточный прогон моделей, коррекции с экономикой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1463040"/>
            <a:ext cx="3127248" cy="36576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69164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070C0"/>
                </a:solidFill>
                <a:latin typeface="Verdana"/>
              </a:rPr>
              <a:t>СЛЕДУЮЩИЙ ШАГ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62626"/>
                </a:solidFill>
                <a:latin typeface="Calibri"/>
              </a:rPr>
              <a:t>интеллект и интеграции</a:t>
            </a:r>
          </a:p>
        </p:txBody>
      </p:sp>
      <p:sp>
        <p:nvSpPr>
          <p:cNvPr id="17" name="Oval 16"/>
          <p:cNvSpPr/>
          <p:nvPr/>
        </p:nvSpPr>
        <p:spPr>
          <a:xfrm>
            <a:off x="3840480" y="2651760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9935" y="2578608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ИИ-ассистент «ИИ-Агроном» на локальной LLM — контур уже развёрнут</a:t>
            </a:r>
          </a:p>
        </p:txBody>
      </p:sp>
      <p:sp>
        <p:nvSpPr>
          <p:cNvPr id="19" name="Oval 18"/>
          <p:cNvSpPr/>
          <p:nvPr/>
        </p:nvSpPr>
        <p:spPr>
          <a:xfrm>
            <a:off x="3840480" y="3456432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9935" y="338328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включение ФГИС «Зеро»/«Сатурн»/ВетИс — вопрос УКЭП и регистрации</a:t>
            </a:r>
          </a:p>
        </p:txBody>
      </p:sp>
      <p:sp>
        <p:nvSpPr>
          <p:cNvPr id="21" name="Oval 20"/>
          <p:cNvSpPr/>
          <p:nvPr/>
        </p:nvSpPr>
        <p:spPr>
          <a:xfrm>
            <a:off x="3840480" y="4261104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9935" y="4187952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расширение на хозяйства-партнёры проекта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8856" y="1463040"/>
            <a:ext cx="3127248" cy="36576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91640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ED7D31"/>
                </a:solidFill>
                <a:latin typeface="Verdana"/>
              </a:rPr>
              <a:t>ЦЕЛЬ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62626"/>
                </a:solidFill>
                <a:latin typeface="Calibri"/>
              </a:rPr>
              <a:t>цифровая среда АПК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0" y="265176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6056" y="2578608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сообщество хозяйств: бенчмарки, общие модели, обмен практиками</a:t>
            </a:r>
          </a:p>
        </p:txBody>
      </p:sp>
      <p:sp>
        <p:nvSpPr>
          <p:cNvPr id="27" name="Oval 26"/>
          <p:cNvSpPr/>
          <p:nvPr/>
        </p:nvSpPr>
        <p:spPr>
          <a:xfrm>
            <a:off x="7086600" y="34564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6056" y="3383280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массовый доступ малых форм к инструментам холдингов</a:t>
            </a:r>
          </a:p>
        </p:txBody>
      </p:sp>
      <p:sp>
        <p:nvSpPr>
          <p:cNvPr id="29" name="Oval 28"/>
          <p:cNvSpPr/>
          <p:nvPr/>
        </p:nvSpPr>
        <p:spPr>
          <a:xfrm>
            <a:off x="7086600" y="4261104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056" y="4187952"/>
            <a:ext cx="24505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62626"/>
                </a:solidFill>
                <a:latin typeface="Calibri"/>
              </a:rPr>
              <a:t>вклад в устойчивость продовольственной безопасности страны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49240"/>
            <a:ext cx="9610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62626"/>
                </a:solidFill>
                <a:latin typeface="Calibri"/>
              </a:rPr>
              <a:t>Каждый шаг дорожной карты проверяем: прототип работает, ИИ-контур развёрнут на той же инфраструктуре, встроены эндпоинты для интеграции ФГИС.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2103120"/>
            <a:ext cx="6035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70C0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74903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Наука — в каждое поле. Урожай — под контролем страны.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3434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Цифровая платформа «Код Урожая» · ГУУ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Цифровая платформа «Код Урожая»</dc:title>
  <dc:subject/>
  <dc:creator>ГУУ · проект продовольственной безопасности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